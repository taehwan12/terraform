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x="18288000" cy="10287000"/>
  <p:notesSz cx="6858000" cy="9144000"/>
  <p:embeddedFontLst>
    <p:embeddedFont>
      <p:font typeface="각진펜 Bold" charset="1" panose="020B0500000000000000"/>
      <p:regular r:id="rId60"/>
    </p:embeddedFont>
    <p:embeddedFont>
      <p:font typeface="각진펜" charset="1" panose="020B0500000000000000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492463"/>
            <a:ext cx="16021455" cy="9302074"/>
            <a:chOff x="0" y="0"/>
            <a:chExt cx="4219642" cy="2449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449929"/>
            </a:xfrm>
            <a:custGeom>
              <a:avLst/>
              <a:gdLst/>
              <a:ahLst/>
              <a:cxnLst/>
              <a:rect r="r" b="b" t="t" l="l"/>
              <a:pathLst>
                <a:path h="2449929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449929"/>
                  </a:lnTo>
                  <a:lnTo>
                    <a:pt x="0" y="244992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488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5394072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640139" y="3676073"/>
            <a:ext cx="3178479" cy="3178479"/>
          </a:xfrm>
          <a:custGeom>
            <a:avLst/>
            <a:gdLst/>
            <a:ahLst/>
            <a:cxnLst/>
            <a:rect r="r" b="b" t="t" l="l"/>
            <a:pathLst>
              <a:path h="3178479" w="3178479">
                <a:moveTo>
                  <a:pt x="0" y="0"/>
                </a:moveTo>
                <a:lnTo>
                  <a:pt x="3178479" y="0"/>
                </a:lnTo>
                <a:lnTo>
                  <a:pt x="3178479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4193" y="2595435"/>
            <a:ext cx="6275949" cy="254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30"/>
              </a:lnSpc>
              <a:spcBef>
                <a:spcPct val="0"/>
              </a:spcBef>
            </a:pPr>
            <a:r>
              <a:rPr lang="en-US" b="true" sz="7307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4193" y="5736972"/>
            <a:ext cx="4654174" cy="158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2297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신재섭 (조장)</a:t>
            </a:r>
          </a:p>
          <a:p>
            <a:pPr algn="l">
              <a:lnSpc>
                <a:spcPts val="3216"/>
              </a:lnSpc>
            </a:pPr>
            <a:r>
              <a:rPr lang="en-US" sz="2297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전병욱</a:t>
            </a:r>
          </a:p>
          <a:p>
            <a:pPr algn="l">
              <a:lnSpc>
                <a:spcPts val="3216"/>
              </a:lnSpc>
            </a:pPr>
            <a:r>
              <a:rPr lang="en-US" sz="2297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이은석</a:t>
            </a:r>
          </a:p>
          <a:p>
            <a:pPr algn="l">
              <a:lnSpc>
                <a:spcPts val="3216"/>
              </a:lnSpc>
              <a:spcBef>
                <a:spcPct val="0"/>
              </a:spcBef>
            </a:pPr>
            <a:r>
              <a:rPr lang="en-US" b="true" sz="2297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정태환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6587" y="3272029"/>
            <a:ext cx="2277270" cy="364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정의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IaC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프로비저닝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CI/CD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장점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3272033"/>
            <a:ext cx="1136015" cy="368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2799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1-1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1-2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1-3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1-4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1-5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69645" y="1753624"/>
            <a:ext cx="688325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목차</a:t>
            </a:r>
          </a:p>
        </p:txBody>
      </p:sp>
      <p:sp>
        <p:nvSpPr>
          <p:cNvPr name="AutoShape 10" id="10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135810" y="3272031"/>
            <a:ext cx="1136015" cy="24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2799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</a:t>
            </a:r>
          </a:p>
          <a:p>
            <a:pPr algn="ctr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2-1</a:t>
            </a:r>
          </a:p>
          <a:p>
            <a:pPr algn="ctr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2-2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2-3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23589" y="3272029"/>
            <a:ext cx="1526765" cy="244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환경 구축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 CLI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VSCode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88479" y="3272028"/>
            <a:ext cx="1136015" cy="368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</a:t>
            </a:r>
          </a:p>
          <a:p>
            <a:pPr algn="ctr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3-1</a:t>
            </a:r>
          </a:p>
          <a:p>
            <a:pPr algn="ctr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3-2</a:t>
            </a:r>
          </a:p>
          <a:p>
            <a:pPr algn="ctr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3-3</a:t>
            </a:r>
          </a:p>
          <a:p>
            <a:pPr algn="ctr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3-4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3-5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24494" y="3272025"/>
            <a:ext cx="3048804" cy="364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기본 개념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provider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variable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output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terraform.tfstate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11423" y="3272028"/>
            <a:ext cx="1136015" cy="368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</a:t>
            </a:r>
          </a:p>
          <a:p>
            <a:pPr algn="ctr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4-1</a:t>
            </a:r>
          </a:p>
          <a:p>
            <a:pPr algn="ctr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4-2</a:t>
            </a:r>
          </a:p>
          <a:p>
            <a:pPr algn="ctr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4-3</a:t>
            </a:r>
          </a:p>
          <a:p>
            <a:pPr algn="ctr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4-4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4-5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47438" y="3272028"/>
            <a:ext cx="3048804" cy="364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작동 원리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init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validate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plan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apply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destroy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29292" y="3317413"/>
            <a:ext cx="2277270" cy="1840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TF 파일 분석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구조 및 구성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3277" y="3317418"/>
            <a:ext cx="1136015" cy="185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2799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5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5</a:t>
            </a: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-1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5-2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69645" y="1753624"/>
            <a:ext cx="688325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목차</a:t>
            </a:r>
          </a:p>
        </p:txBody>
      </p:sp>
      <p:sp>
        <p:nvSpPr>
          <p:cNvPr name="AutoShape 10" id="10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348516" y="3317415"/>
            <a:ext cx="1136015" cy="24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6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6</a:t>
            </a: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-1</a:t>
            </a:r>
          </a:p>
          <a:p>
            <a:pPr algn="ctr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6-2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6-3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36294" y="3317413"/>
            <a:ext cx="5354178" cy="244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Github, Terraform Cloud, AWS 연동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Github repository 생성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Cloud 초기 구성 &amp; Github 연동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Cloud &amp; AWS 연동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64613" y="3317418"/>
            <a:ext cx="3330110" cy="244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Route 53 도메인 등록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도메인 확인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NS 레코드 확인 및 입력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출력 결과 확인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28597" y="3317422"/>
            <a:ext cx="1136015" cy="24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2799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</a:t>
            </a: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-1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7-2</a:t>
            </a:r>
          </a:p>
          <a:p>
            <a:pPr algn="ctr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7-3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5394072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1004967" y="3542367"/>
            <a:ext cx="3819576" cy="3703410"/>
            <a:chOff x="0" y="0"/>
            <a:chExt cx="1005979" cy="9753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979" cy="975384"/>
            </a:xfrm>
            <a:custGeom>
              <a:avLst/>
              <a:gdLst/>
              <a:ahLst/>
              <a:cxnLst/>
              <a:rect r="r" b="b" t="t" l="l"/>
              <a:pathLst>
                <a:path h="975384" w="1005979">
                  <a:moveTo>
                    <a:pt x="0" y="0"/>
                  </a:moveTo>
                  <a:lnTo>
                    <a:pt x="1005979" y="0"/>
                  </a:lnTo>
                  <a:lnTo>
                    <a:pt x="1005979" y="975384"/>
                  </a:lnTo>
                  <a:lnTo>
                    <a:pt x="0" y="9753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005979" cy="11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94193" y="3750883"/>
            <a:ext cx="8953625" cy="125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0"/>
              </a:lnSpc>
            </a:pPr>
            <a:r>
              <a:rPr lang="en-US" b="true" sz="7307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Terraform 정의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0572" y="9471322"/>
            <a:ext cx="17900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Terraform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325516" y="3804833"/>
            <a:ext cx="3178479" cy="3178479"/>
          </a:xfrm>
          <a:custGeom>
            <a:avLst/>
            <a:gdLst/>
            <a:ahLst/>
            <a:cxnLst/>
            <a:rect r="r" b="b" t="t" l="l"/>
            <a:pathLst>
              <a:path h="3178479" w="3178479">
                <a:moveTo>
                  <a:pt x="0" y="0"/>
                </a:moveTo>
                <a:lnTo>
                  <a:pt x="3178479" y="0"/>
                </a:lnTo>
                <a:lnTo>
                  <a:pt x="3178479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302634"/>
            <a:ext cx="6503164" cy="4345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IaC (Infrastructure as Code)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인프라를 코드로 관리하는 방식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대표적인 IaC 도구</a:t>
            </a:r>
          </a:p>
          <a:p>
            <a:pPr algn="l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b="true" sz="2399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</a:t>
            </a:r>
          </a:p>
          <a:p>
            <a:pPr algn="l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b="true" sz="2399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Ansible</a:t>
            </a:r>
          </a:p>
          <a:p>
            <a:pPr algn="l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b="true" sz="2399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 CloudFormation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1-1. IaC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0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1-2. Terraform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3302634"/>
            <a:ext cx="6503164" cy="3041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</a:t>
            </a:r>
          </a:p>
          <a:p>
            <a:pPr algn="l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b="true" sz="2399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Terraform은 HashiCorp가 개발한 IaC 도구</a:t>
            </a:r>
          </a:p>
          <a:p>
            <a:pPr algn="l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b="true" sz="2399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코드로 인프라를 정의</a:t>
            </a:r>
          </a:p>
          <a:p>
            <a:pPr algn="l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b="true" sz="2399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여러 클라우드 및 온프레미스 환경에 일관되게 배포 가능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302634"/>
            <a:ext cx="6503164" cy="494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프로비저닝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필요한 IT 인프라 자원을 생성 및 설정 과정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프로비저닝 예</a:t>
            </a:r>
          </a:p>
          <a:p>
            <a:pPr algn="l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서버(EC2) 생성</a:t>
            </a:r>
          </a:p>
          <a:p>
            <a:pPr algn="l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네트워크(VPC) 구성</a:t>
            </a:r>
          </a:p>
          <a:p>
            <a:pPr algn="l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보안 그룹 설정</a:t>
            </a:r>
          </a:p>
          <a:p>
            <a:pPr algn="l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데이터베이스(RDS) 생성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1-3. 프로비저닝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0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1-4. CI/CD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3302634"/>
            <a:ext cx="6503164" cy="4732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CI/CD</a:t>
            </a:r>
          </a:p>
          <a:p>
            <a:pPr algn="l">
              <a:lnSpc>
                <a:spcPts val="4200"/>
              </a:lnSpc>
            </a:pPr>
            <a:r>
              <a:rPr lang="en-US" sz="21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소프트웨어를 자동으로 빌드, 테스트, 배포하는 </a:t>
            </a:r>
          </a:p>
          <a:p>
            <a:pPr algn="l">
              <a:lnSpc>
                <a:spcPts val="4200"/>
              </a:lnSpc>
            </a:pPr>
            <a:r>
              <a:rPr lang="en-US" sz="21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개발 자동화 방식</a:t>
            </a: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CI (Continuous Integration)</a:t>
            </a:r>
          </a:p>
          <a:p>
            <a:pPr algn="l">
              <a:lnSpc>
                <a:spcPts val="4200"/>
              </a:lnSpc>
            </a:pPr>
            <a:r>
              <a:rPr lang="en-US" sz="21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개발자가 코드를 수정 후 자동으로 빌드 및 테스트 수행 </a:t>
            </a:r>
          </a:p>
          <a:p>
            <a:pPr algn="l">
              <a:lnSpc>
                <a:spcPts val="4200"/>
              </a:lnSpc>
            </a:pPr>
            <a:r>
              <a:rPr lang="en-US" sz="21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→ 오류를 빠르게 확인 가능</a:t>
            </a: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CD (Continous Devlivery / Deployment)</a:t>
            </a:r>
          </a:p>
          <a:p>
            <a:pPr algn="l">
              <a:lnSpc>
                <a:spcPts val="4200"/>
              </a:lnSpc>
            </a:pPr>
            <a:r>
              <a:rPr lang="en-US" sz="21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테스트가 완료된 코드를 서버에 자동 배포하는 과정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302634"/>
            <a:ext cx="12726915" cy="549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Terraform의 장점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자동화 가능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인프라를 코드로 작성하여 서버, 네트워크, DB 등을 자동으로 생성할 수 있다.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반복 작업을 줄이고 구축 시간을 단축할 수 있다.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동일한 환경 재현 가능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같은 .tf 코드를 사용하면 언제 어디서든 동일한 인프라 환경을 만들 수 있다.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개발 환경과 운영 환경의 차이를 줄일 수 있다.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버전 관리 및 협업 가능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코드는 Git으로 관리할 수 있어 변경 이력을 추적할 수 있다.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여러 사람이 동시에 인프라를 관리하기에도 용이하다.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1-5. 장점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5394072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1004967" y="3542367"/>
            <a:ext cx="3819576" cy="3703410"/>
            <a:chOff x="0" y="0"/>
            <a:chExt cx="1005979" cy="9753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979" cy="975384"/>
            </a:xfrm>
            <a:custGeom>
              <a:avLst/>
              <a:gdLst/>
              <a:ahLst/>
              <a:cxnLst/>
              <a:rect r="r" b="b" t="t" l="l"/>
              <a:pathLst>
                <a:path h="975384" w="1005979">
                  <a:moveTo>
                    <a:pt x="0" y="0"/>
                  </a:moveTo>
                  <a:lnTo>
                    <a:pt x="1005979" y="0"/>
                  </a:lnTo>
                  <a:lnTo>
                    <a:pt x="1005979" y="975384"/>
                  </a:lnTo>
                  <a:lnTo>
                    <a:pt x="0" y="9753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005979" cy="11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394187" y="3873503"/>
            <a:ext cx="3041138" cy="3041138"/>
          </a:xfrm>
          <a:custGeom>
            <a:avLst/>
            <a:gdLst/>
            <a:ahLst/>
            <a:cxnLst/>
            <a:rect r="r" b="b" t="t" l="l"/>
            <a:pathLst>
              <a:path h="3041138" w="3041138">
                <a:moveTo>
                  <a:pt x="0" y="0"/>
                </a:moveTo>
                <a:lnTo>
                  <a:pt x="3041137" y="0"/>
                </a:lnTo>
                <a:lnTo>
                  <a:pt x="3041137" y="3041138"/>
                </a:lnTo>
                <a:lnTo>
                  <a:pt x="0" y="3041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80572" y="9471322"/>
            <a:ext cx="17900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Terraform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4193" y="3750883"/>
            <a:ext cx="8953625" cy="125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0"/>
              </a:lnSpc>
            </a:pPr>
            <a:r>
              <a:rPr lang="en-US" b="true" sz="7307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환경 구축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80572" y="3618112"/>
            <a:ext cx="5181751" cy="1551974"/>
          </a:xfrm>
          <a:custGeom>
            <a:avLst/>
            <a:gdLst/>
            <a:ahLst/>
            <a:cxnLst/>
            <a:rect r="r" b="b" t="t" l="l"/>
            <a:pathLst>
              <a:path h="1551974" w="5181751">
                <a:moveTo>
                  <a:pt x="0" y="0"/>
                </a:moveTo>
                <a:lnTo>
                  <a:pt x="5181751" y="0"/>
                </a:lnTo>
                <a:lnTo>
                  <a:pt x="5181751" y="1551974"/>
                </a:lnTo>
                <a:lnTo>
                  <a:pt x="0" y="1551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458" t="-151051" r="-20694" b="-5003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60245" y="3618112"/>
            <a:ext cx="2914012" cy="3000935"/>
          </a:xfrm>
          <a:custGeom>
            <a:avLst/>
            <a:gdLst/>
            <a:ahLst/>
            <a:cxnLst/>
            <a:rect r="r" b="b" t="t" l="l"/>
            <a:pathLst>
              <a:path h="3000935" w="2914012">
                <a:moveTo>
                  <a:pt x="0" y="0"/>
                </a:moveTo>
                <a:lnTo>
                  <a:pt x="2914012" y="0"/>
                </a:lnTo>
                <a:lnTo>
                  <a:pt x="2914012" y="3000935"/>
                </a:lnTo>
                <a:lnTo>
                  <a:pt x="0" y="3000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4" t="0" r="0" b="-891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46689" y="3621056"/>
            <a:ext cx="3040948" cy="2997991"/>
          </a:xfrm>
          <a:custGeom>
            <a:avLst/>
            <a:gdLst/>
            <a:ahLst/>
            <a:cxnLst/>
            <a:rect r="r" b="b" t="t" l="l"/>
            <a:pathLst>
              <a:path h="2997991" w="3040948">
                <a:moveTo>
                  <a:pt x="0" y="0"/>
                </a:moveTo>
                <a:lnTo>
                  <a:pt x="3040947" y="0"/>
                </a:lnTo>
                <a:lnTo>
                  <a:pt x="3040947" y="2997991"/>
                </a:lnTo>
                <a:lnTo>
                  <a:pt x="0" y="2997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5" t="0" r="-39447" b="-3401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768888" y="7687311"/>
            <a:ext cx="5380147" cy="1269913"/>
          </a:xfrm>
          <a:custGeom>
            <a:avLst/>
            <a:gdLst/>
            <a:ahLst/>
            <a:cxnLst/>
            <a:rect r="r" b="b" t="t" l="l"/>
            <a:pathLst>
              <a:path h="1269913" w="5380147">
                <a:moveTo>
                  <a:pt x="0" y="0"/>
                </a:moveTo>
                <a:lnTo>
                  <a:pt x="5380147" y="0"/>
                </a:lnTo>
                <a:lnTo>
                  <a:pt x="5380147" y="1269913"/>
                </a:lnTo>
                <a:lnTo>
                  <a:pt x="0" y="12699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97" r="0" b="-189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0572" y="6732868"/>
            <a:ext cx="4824660" cy="2224356"/>
          </a:xfrm>
          <a:custGeom>
            <a:avLst/>
            <a:gdLst/>
            <a:ahLst/>
            <a:cxnLst/>
            <a:rect r="r" b="b" t="t" l="l"/>
            <a:pathLst>
              <a:path h="2224356" w="4824660">
                <a:moveTo>
                  <a:pt x="0" y="0"/>
                </a:moveTo>
                <a:lnTo>
                  <a:pt x="4824660" y="0"/>
                </a:lnTo>
                <a:lnTo>
                  <a:pt x="4824660" y="2224356"/>
                </a:lnTo>
                <a:lnTo>
                  <a:pt x="0" y="22243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0572" y="2997715"/>
            <a:ext cx="5514570" cy="62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Terraform 다운로드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2-1. Terraform 설치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60245" y="2997715"/>
            <a:ext cx="3053111" cy="62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환경 변수 설정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46689" y="2997715"/>
            <a:ext cx="3067562" cy="62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Path 수정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68888" y="7061026"/>
            <a:ext cx="5761781" cy="62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4. Terraform 경로 추가 (C:\Terraform)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0572" y="6112471"/>
            <a:ext cx="4824660" cy="62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5. cmd → Terraform 설치 확인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067186" y="4394099"/>
            <a:ext cx="540041" cy="54004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40452" y="4394099"/>
            <a:ext cx="540041" cy="54004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5400000">
            <a:off x="14397142" y="6711486"/>
            <a:ext cx="540041" cy="54004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8267040" y="7782227"/>
            <a:ext cx="540041" cy="54004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168911" y="4151512"/>
            <a:ext cx="2493412" cy="401944"/>
            <a:chOff x="0" y="0"/>
            <a:chExt cx="656701" cy="1058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6701" cy="105862"/>
            </a:xfrm>
            <a:custGeom>
              <a:avLst/>
              <a:gdLst/>
              <a:ahLst/>
              <a:cxnLst/>
              <a:rect r="r" b="b" t="t" l="l"/>
              <a:pathLst>
                <a:path h="105862" w="656701">
                  <a:moveTo>
                    <a:pt x="0" y="0"/>
                  </a:moveTo>
                  <a:lnTo>
                    <a:pt x="656701" y="0"/>
                  </a:lnTo>
                  <a:lnTo>
                    <a:pt x="656701" y="105862"/>
                  </a:lnTo>
                  <a:lnTo>
                    <a:pt x="0" y="105862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56701" cy="143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57125" y="6245677"/>
            <a:ext cx="955213" cy="235152"/>
            <a:chOff x="0" y="0"/>
            <a:chExt cx="251579" cy="6193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1579" cy="61933"/>
            </a:xfrm>
            <a:custGeom>
              <a:avLst/>
              <a:gdLst/>
              <a:ahLst/>
              <a:cxnLst/>
              <a:rect r="r" b="b" t="t" l="l"/>
              <a:pathLst>
                <a:path h="61933" w="251579">
                  <a:moveTo>
                    <a:pt x="0" y="0"/>
                  </a:moveTo>
                  <a:lnTo>
                    <a:pt x="251579" y="0"/>
                  </a:lnTo>
                  <a:lnTo>
                    <a:pt x="251579" y="61933"/>
                  </a:lnTo>
                  <a:lnTo>
                    <a:pt x="0" y="61933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51579" cy="100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725257" y="6322021"/>
            <a:ext cx="955213" cy="235152"/>
            <a:chOff x="0" y="0"/>
            <a:chExt cx="251579" cy="6193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1579" cy="61933"/>
            </a:xfrm>
            <a:custGeom>
              <a:avLst/>
              <a:gdLst/>
              <a:ahLst/>
              <a:cxnLst/>
              <a:rect r="r" b="b" t="t" l="l"/>
              <a:pathLst>
                <a:path h="61933" w="251579">
                  <a:moveTo>
                    <a:pt x="0" y="0"/>
                  </a:moveTo>
                  <a:lnTo>
                    <a:pt x="251579" y="0"/>
                  </a:lnTo>
                  <a:lnTo>
                    <a:pt x="251579" y="61933"/>
                  </a:lnTo>
                  <a:lnTo>
                    <a:pt x="0" y="61933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51579" cy="100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769230" y="8087116"/>
            <a:ext cx="5282557" cy="225885"/>
            <a:chOff x="0" y="0"/>
            <a:chExt cx="1391291" cy="594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1291" cy="59492"/>
            </a:xfrm>
            <a:custGeom>
              <a:avLst/>
              <a:gdLst/>
              <a:ahLst/>
              <a:cxnLst/>
              <a:rect r="r" b="b" t="t" l="l"/>
              <a:pathLst>
                <a:path h="59492" w="1391291">
                  <a:moveTo>
                    <a:pt x="0" y="0"/>
                  </a:moveTo>
                  <a:lnTo>
                    <a:pt x="1391291" y="0"/>
                  </a:lnTo>
                  <a:lnTo>
                    <a:pt x="1391291" y="59492"/>
                  </a:lnTo>
                  <a:lnTo>
                    <a:pt x="0" y="59492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391291" cy="9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768888" y="8379676"/>
            <a:ext cx="5282557" cy="225885"/>
            <a:chOff x="0" y="0"/>
            <a:chExt cx="1391291" cy="594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91291" cy="59492"/>
            </a:xfrm>
            <a:custGeom>
              <a:avLst/>
              <a:gdLst/>
              <a:ahLst/>
              <a:cxnLst/>
              <a:rect r="r" b="b" t="t" l="l"/>
              <a:pathLst>
                <a:path h="59492" w="1391291">
                  <a:moveTo>
                    <a:pt x="0" y="0"/>
                  </a:moveTo>
                  <a:lnTo>
                    <a:pt x="1391291" y="0"/>
                  </a:lnTo>
                  <a:lnTo>
                    <a:pt x="1391291" y="59492"/>
                  </a:lnTo>
                  <a:lnTo>
                    <a:pt x="0" y="59492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391291" cy="9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601283" y="7826362"/>
            <a:ext cx="1687248" cy="216619"/>
            <a:chOff x="0" y="0"/>
            <a:chExt cx="444378" cy="570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4378" cy="57052"/>
            </a:xfrm>
            <a:custGeom>
              <a:avLst/>
              <a:gdLst/>
              <a:ahLst/>
              <a:cxnLst/>
              <a:rect r="r" b="b" t="t" l="l"/>
              <a:pathLst>
                <a:path h="57052" w="444378">
                  <a:moveTo>
                    <a:pt x="0" y="0"/>
                  </a:moveTo>
                  <a:lnTo>
                    <a:pt x="444378" y="0"/>
                  </a:lnTo>
                  <a:lnTo>
                    <a:pt x="444378" y="57052"/>
                  </a:lnTo>
                  <a:lnTo>
                    <a:pt x="0" y="57052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44378" cy="95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99622" y="8000972"/>
            <a:ext cx="1761378" cy="452953"/>
            <a:chOff x="0" y="0"/>
            <a:chExt cx="463902" cy="1192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3902" cy="119296"/>
            </a:xfrm>
            <a:custGeom>
              <a:avLst/>
              <a:gdLst/>
              <a:ahLst/>
              <a:cxnLst/>
              <a:rect r="r" b="b" t="t" l="l"/>
              <a:pathLst>
                <a:path h="119296" w="463902">
                  <a:moveTo>
                    <a:pt x="0" y="0"/>
                  </a:moveTo>
                  <a:lnTo>
                    <a:pt x="463902" y="0"/>
                  </a:lnTo>
                  <a:lnTo>
                    <a:pt x="463902" y="119296"/>
                  </a:lnTo>
                  <a:lnTo>
                    <a:pt x="0" y="119296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63902" cy="157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223086" y="4297185"/>
            <a:ext cx="540041" cy="54004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27565" y="4297185"/>
            <a:ext cx="540041" cy="5400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14059670" y="5369384"/>
            <a:ext cx="540041" cy="54004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8889804" y="7431680"/>
            <a:ext cx="540041" cy="54004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867455" y="3771124"/>
            <a:ext cx="3560703" cy="1592162"/>
          </a:xfrm>
          <a:custGeom>
            <a:avLst/>
            <a:gdLst/>
            <a:ahLst/>
            <a:cxnLst/>
            <a:rect r="r" b="b" t="t" l="l"/>
            <a:pathLst>
              <a:path h="1592162" w="3560703">
                <a:moveTo>
                  <a:pt x="0" y="0"/>
                </a:moveTo>
                <a:lnTo>
                  <a:pt x="3560703" y="0"/>
                </a:lnTo>
                <a:lnTo>
                  <a:pt x="3560703" y="1592162"/>
                </a:lnTo>
                <a:lnTo>
                  <a:pt x="0" y="159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73" t="-89315" r="-175739" b="-107368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459773" y="4039268"/>
            <a:ext cx="3400102" cy="1055874"/>
          </a:xfrm>
          <a:custGeom>
            <a:avLst/>
            <a:gdLst/>
            <a:ahLst/>
            <a:cxnLst/>
            <a:rect r="r" b="b" t="t" l="l"/>
            <a:pathLst>
              <a:path h="1055874" w="3400102">
                <a:moveTo>
                  <a:pt x="0" y="0"/>
                </a:moveTo>
                <a:lnTo>
                  <a:pt x="3400102" y="0"/>
                </a:lnTo>
                <a:lnTo>
                  <a:pt x="3400102" y="1055874"/>
                </a:lnTo>
                <a:lnTo>
                  <a:pt x="0" y="1055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9" t="-2605" r="-43699" b="-8795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039325" y="4155551"/>
            <a:ext cx="4381219" cy="823308"/>
          </a:xfrm>
          <a:custGeom>
            <a:avLst/>
            <a:gdLst/>
            <a:ahLst/>
            <a:cxnLst/>
            <a:rect r="r" b="b" t="t" l="l"/>
            <a:pathLst>
              <a:path h="823308" w="4381219">
                <a:moveTo>
                  <a:pt x="0" y="0"/>
                </a:moveTo>
                <a:lnTo>
                  <a:pt x="4381220" y="0"/>
                </a:lnTo>
                <a:lnTo>
                  <a:pt x="4381220" y="823308"/>
                </a:lnTo>
                <a:lnTo>
                  <a:pt x="0" y="823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17" t="-12532" r="-5616" b="-6555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677619" y="6683451"/>
            <a:ext cx="4848389" cy="1892061"/>
          </a:xfrm>
          <a:custGeom>
            <a:avLst/>
            <a:gdLst/>
            <a:ahLst/>
            <a:cxnLst/>
            <a:rect r="r" b="b" t="t" l="l"/>
            <a:pathLst>
              <a:path h="1892061" w="4848389">
                <a:moveTo>
                  <a:pt x="0" y="0"/>
                </a:moveTo>
                <a:lnTo>
                  <a:pt x="4848389" y="0"/>
                </a:lnTo>
                <a:lnTo>
                  <a:pt x="4848389" y="1892061"/>
                </a:lnTo>
                <a:lnTo>
                  <a:pt x="0" y="1892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026" r="-1484" b="-7874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867455" y="6844080"/>
            <a:ext cx="5770931" cy="1594980"/>
          </a:xfrm>
          <a:custGeom>
            <a:avLst/>
            <a:gdLst/>
            <a:ahLst/>
            <a:cxnLst/>
            <a:rect r="r" b="b" t="t" l="l"/>
            <a:pathLst>
              <a:path h="1594980" w="5770931">
                <a:moveTo>
                  <a:pt x="0" y="0"/>
                </a:moveTo>
                <a:lnTo>
                  <a:pt x="5770932" y="0"/>
                </a:lnTo>
                <a:lnTo>
                  <a:pt x="5770932" y="1594980"/>
                </a:lnTo>
                <a:lnTo>
                  <a:pt x="0" y="1594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93" t="-2711" r="0" b="-24395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867455" y="3147783"/>
            <a:ext cx="3560703" cy="62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파일 다운로드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2-2. AWS CLI 연동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59773" y="3147783"/>
            <a:ext cx="3053111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AWS 버전 확인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39081" y="3147783"/>
            <a:ext cx="3067562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액세스 키 생성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58764" y="5957050"/>
            <a:ext cx="5761781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4. AWS Configure → 액세스 키 입력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38467" y="5957050"/>
            <a:ext cx="4824660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5. AWS 로그인 확인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316994" y="4182587"/>
            <a:ext cx="1038687" cy="275761"/>
            <a:chOff x="0" y="0"/>
            <a:chExt cx="273564" cy="726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3564" cy="72628"/>
            </a:xfrm>
            <a:custGeom>
              <a:avLst/>
              <a:gdLst/>
              <a:ahLst/>
              <a:cxnLst/>
              <a:rect r="r" b="b" t="t" l="l"/>
              <a:pathLst>
                <a:path h="72628" w="273564">
                  <a:moveTo>
                    <a:pt x="0" y="0"/>
                  </a:moveTo>
                  <a:lnTo>
                    <a:pt x="273564" y="0"/>
                  </a:lnTo>
                  <a:lnTo>
                    <a:pt x="273564" y="72628"/>
                  </a:lnTo>
                  <a:lnTo>
                    <a:pt x="0" y="72628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73564" cy="110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026018" y="4567205"/>
            <a:ext cx="2020833" cy="188820"/>
            <a:chOff x="0" y="0"/>
            <a:chExt cx="532236" cy="497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2236" cy="49730"/>
            </a:xfrm>
            <a:custGeom>
              <a:avLst/>
              <a:gdLst/>
              <a:ahLst/>
              <a:cxnLst/>
              <a:rect r="r" b="b" t="t" l="l"/>
              <a:pathLst>
                <a:path h="49730" w="532236">
                  <a:moveTo>
                    <a:pt x="0" y="0"/>
                  </a:moveTo>
                  <a:lnTo>
                    <a:pt x="532236" y="0"/>
                  </a:lnTo>
                  <a:lnTo>
                    <a:pt x="532236" y="49730"/>
                  </a:lnTo>
                  <a:lnTo>
                    <a:pt x="0" y="49730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32236" cy="87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06333" y="4775310"/>
            <a:ext cx="925661" cy="174859"/>
            <a:chOff x="0" y="0"/>
            <a:chExt cx="243795" cy="4605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795" cy="46053"/>
            </a:xfrm>
            <a:custGeom>
              <a:avLst/>
              <a:gdLst/>
              <a:ahLst/>
              <a:cxnLst/>
              <a:rect r="r" b="b" t="t" l="l"/>
              <a:pathLst>
                <a:path h="46053" w="243795">
                  <a:moveTo>
                    <a:pt x="0" y="0"/>
                  </a:moveTo>
                  <a:lnTo>
                    <a:pt x="243795" y="0"/>
                  </a:lnTo>
                  <a:lnTo>
                    <a:pt x="243795" y="46053"/>
                  </a:lnTo>
                  <a:lnTo>
                    <a:pt x="0" y="46053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43795" cy="84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59773" y="4920283"/>
            <a:ext cx="3360974" cy="174859"/>
            <a:chOff x="0" y="0"/>
            <a:chExt cx="885195" cy="4605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85195" cy="46053"/>
            </a:xfrm>
            <a:custGeom>
              <a:avLst/>
              <a:gdLst/>
              <a:ahLst/>
              <a:cxnLst/>
              <a:rect r="r" b="b" t="t" l="l"/>
              <a:pathLst>
                <a:path h="46053" w="885195">
                  <a:moveTo>
                    <a:pt x="0" y="0"/>
                  </a:moveTo>
                  <a:lnTo>
                    <a:pt x="885195" y="0"/>
                  </a:lnTo>
                  <a:lnTo>
                    <a:pt x="885195" y="46053"/>
                  </a:lnTo>
                  <a:lnTo>
                    <a:pt x="0" y="46053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85195" cy="84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710051" y="7390582"/>
            <a:ext cx="4815957" cy="1191475"/>
            <a:chOff x="0" y="0"/>
            <a:chExt cx="1268400" cy="3138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68400" cy="313804"/>
            </a:xfrm>
            <a:custGeom>
              <a:avLst/>
              <a:gdLst/>
              <a:ahLst/>
              <a:cxnLst/>
              <a:rect r="r" b="b" t="t" l="l"/>
              <a:pathLst>
                <a:path h="313804" w="1268400">
                  <a:moveTo>
                    <a:pt x="0" y="0"/>
                  </a:moveTo>
                  <a:lnTo>
                    <a:pt x="1268400" y="0"/>
                  </a:lnTo>
                  <a:lnTo>
                    <a:pt x="1268400" y="313804"/>
                  </a:lnTo>
                  <a:lnTo>
                    <a:pt x="0" y="313804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268400" cy="351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67455" y="7390582"/>
            <a:ext cx="5770931" cy="1063365"/>
            <a:chOff x="0" y="0"/>
            <a:chExt cx="1519916" cy="2800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19916" cy="280063"/>
            </a:xfrm>
            <a:custGeom>
              <a:avLst/>
              <a:gdLst/>
              <a:ahLst/>
              <a:cxnLst/>
              <a:rect r="r" b="b" t="t" l="l"/>
              <a:pathLst>
                <a:path h="280063" w="1519916">
                  <a:moveTo>
                    <a:pt x="0" y="0"/>
                  </a:moveTo>
                  <a:lnTo>
                    <a:pt x="1519916" y="0"/>
                  </a:lnTo>
                  <a:lnTo>
                    <a:pt x="1519916" y="280063"/>
                  </a:lnTo>
                  <a:lnTo>
                    <a:pt x="0" y="280063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519916" cy="318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960922" y="4248833"/>
            <a:ext cx="540041" cy="54004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67260" y="4248833"/>
            <a:ext cx="540041" cy="5400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13336940" y="5558610"/>
            <a:ext cx="540041" cy="54004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8698373" y="7343247"/>
            <a:ext cx="540041" cy="54004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709340" y="3911560"/>
            <a:ext cx="1346510" cy="1895169"/>
          </a:xfrm>
          <a:custGeom>
            <a:avLst/>
            <a:gdLst/>
            <a:ahLst/>
            <a:cxnLst/>
            <a:rect r="r" b="b" t="t" l="l"/>
            <a:pathLst>
              <a:path h="1895169" w="1346510">
                <a:moveTo>
                  <a:pt x="0" y="0"/>
                </a:moveTo>
                <a:lnTo>
                  <a:pt x="1346510" y="0"/>
                </a:lnTo>
                <a:lnTo>
                  <a:pt x="1346510" y="1895168"/>
                </a:lnTo>
                <a:lnTo>
                  <a:pt x="0" y="1895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52" t="-123662" r="-269982" b="-38663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978351" y="4091645"/>
            <a:ext cx="3775731" cy="2007006"/>
          </a:xfrm>
          <a:custGeom>
            <a:avLst/>
            <a:gdLst/>
            <a:ahLst/>
            <a:cxnLst/>
            <a:rect r="r" b="b" t="t" l="l"/>
            <a:pathLst>
              <a:path h="2007006" w="3775731">
                <a:moveTo>
                  <a:pt x="0" y="0"/>
                </a:moveTo>
                <a:lnTo>
                  <a:pt x="3775731" y="0"/>
                </a:lnTo>
                <a:lnTo>
                  <a:pt x="3775731" y="2007006"/>
                </a:lnTo>
                <a:lnTo>
                  <a:pt x="0" y="2007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481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157350" y="4518853"/>
            <a:ext cx="4023500" cy="968789"/>
          </a:xfrm>
          <a:custGeom>
            <a:avLst/>
            <a:gdLst/>
            <a:ahLst/>
            <a:cxnLst/>
            <a:rect r="r" b="b" t="t" l="l"/>
            <a:pathLst>
              <a:path h="968789" w="4023500">
                <a:moveTo>
                  <a:pt x="0" y="0"/>
                </a:moveTo>
                <a:lnTo>
                  <a:pt x="4023500" y="0"/>
                </a:lnTo>
                <a:lnTo>
                  <a:pt x="4023500" y="968789"/>
                </a:lnTo>
                <a:lnTo>
                  <a:pt x="0" y="968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90" t="-38533" r="-51916" b="-221629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157350" y="6809006"/>
            <a:ext cx="2640338" cy="1904658"/>
          </a:xfrm>
          <a:custGeom>
            <a:avLst/>
            <a:gdLst/>
            <a:ahLst/>
            <a:cxnLst/>
            <a:rect r="r" b="b" t="t" l="l"/>
            <a:pathLst>
              <a:path h="1904658" w="2640338">
                <a:moveTo>
                  <a:pt x="0" y="0"/>
                </a:moveTo>
                <a:lnTo>
                  <a:pt x="2640338" y="0"/>
                </a:lnTo>
                <a:lnTo>
                  <a:pt x="2640338" y="1904658"/>
                </a:lnTo>
                <a:lnTo>
                  <a:pt x="0" y="19046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3957" t="0" r="0" b="-183807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107150" y="6562092"/>
            <a:ext cx="3672286" cy="2312214"/>
          </a:xfrm>
          <a:custGeom>
            <a:avLst/>
            <a:gdLst/>
            <a:ahLst/>
            <a:cxnLst/>
            <a:rect r="r" b="b" t="t" l="l"/>
            <a:pathLst>
              <a:path h="2312214" w="3672286">
                <a:moveTo>
                  <a:pt x="0" y="0"/>
                </a:moveTo>
                <a:lnTo>
                  <a:pt x="3672286" y="0"/>
                </a:lnTo>
                <a:lnTo>
                  <a:pt x="3672286" y="2312214"/>
                </a:lnTo>
                <a:lnTo>
                  <a:pt x="0" y="23122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9516" b="-1064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107150" y="3099431"/>
            <a:ext cx="3560703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파일 다운로드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2-3. VSCode 설치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78351" y="3099498"/>
            <a:ext cx="3053111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체크박스 확인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57350" y="3099431"/>
            <a:ext cx="3967079" cy="1325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VSCode 내 </a:t>
            </a: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HashiCorp Terraform 설치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57350" y="5965301"/>
            <a:ext cx="2744214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4. 자동 포맷 구성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31702" y="5898626"/>
            <a:ext cx="2931269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5. JSON 내용 입력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895523" y="5003248"/>
            <a:ext cx="991978" cy="189302"/>
            <a:chOff x="0" y="0"/>
            <a:chExt cx="261262" cy="498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1262" cy="49857"/>
            </a:xfrm>
            <a:custGeom>
              <a:avLst/>
              <a:gdLst/>
              <a:ahLst/>
              <a:cxnLst/>
              <a:rect r="r" b="b" t="t" l="l"/>
              <a:pathLst>
                <a:path h="49857" w="261262">
                  <a:moveTo>
                    <a:pt x="0" y="0"/>
                  </a:moveTo>
                  <a:lnTo>
                    <a:pt x="261262" y="0"/>
                  </a:lnTo>
                  <a:lnTo>
                    <a:pt x="261262" y="49857"/>
                  </a:lnTo>
                  <a:lnTo>
                    <a:pt x="0" y="49857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61262" cy="87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212984" y="5639328"/>
            <a:ext cx="2091167" cy="324007"/>
            <a:chOff x="0" y="0"/>
            <a:chExt cx="550760" cy="8533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0760" cy="85335"/>
            </a:xfrm>
            <a:custGeom>
              <a:avLst/>
              <a:gdLst/>
              <a:ahLst/>
              <a:cxnLst/>
              <a:rect r="r" b="b" t="t" l="l"/>
              <a:pathLst>
                <a:path h="85335" w="550760">
                  <a:moveTo>
                    <a:pt x="0" y="0"/>
                  </a:moveTo>
                  <a:lnTo>
                    <a:pt x="550760" y="0"/>
                  </a:lnTo>
                  <a:lnTo>
                    <a:pt x="550760" y="85335"/>
                  </a:lnTo>
                  <a:lnTo>
                    <a:pt x="0" y="85335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50760" cy="1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182161" y="4671659"/>
            <a:ext cx="1510663" cy="398971"/>
            <a:chOff x="0" y="0"/>
            <a:chExt cx="397870" cy="10507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7870" cy="105079"/>
            </a:xfrm>
            <a:custGeom>
              <a:avLst/>
              <a:gdLst/>
              <a:ahLst/>
              <a:cxnLst/>
              <a:rect r="r" b="b" t="t" l="l"/>
              <a:pathLst>
                <a:path h="105079" w="397870">
                  <a:moveTo>
                    <a:pt x="0" y="0"/>
                  </a:moveTo>
                  <a:lnTo>
                    <a:pt x="397870" y="0"/>
                  </a:lnTo>
                  <a:lnTo>
                    <a:pt x="397870" y="105079"/>
                  </a:lnTo>
                  <a:lnTo>
                    <a:pt x="0" y="105079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97870" cy="143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287026" y="6833281"/>
            <a:ext cx="405798" cy="414577"/>
            <a:chOff x="0" y="0"/>
            <a:chExt cx="106877" cy="10918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877" cy="109189"/>
            </a:xfrm>
            <a:custGeom>
              <a:avLst/>
              <a:gdLst/>
              <a:ahLst/>
              <a:cxnLst/>
              <a:rect r="r" b="b" t="t" l="l"/>
              <a:pathLst>
                <a:path h="109189" w="106877">
                  <a:moveTo>
                    <a:pt x="0" y="0"/>
                  </a:moveTo>
                  <a:lnTo>
                    <a:pt x="106877" y="0"/>
                  </a:lnTo>
                  <a:lnTo>
                    <a:pt x="106877" y="109189"/>
                  </a:lnTo>
                  <a:lnTo>
                    <a:pt x="0" y="109189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6877" cy="147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595264" y="6978061"/>
            <a:ext cx="3188458" cy="1896245"/>
            <a:chOff x="0" y="0"/>
            <a:chExt cx="839759" cy="49942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39759" cy="499422"/>
            </a:xfrm>
            <a:custGeom>
              <a:avLst/>
              <a:gdLst/>
              <a:ahLst/>
              <a:cxnLst/>
              <a:rect r="r" b="b" t="t" l="l"/>
              <a:pathLst>
                <a:path h="499422" w="839759">
                  <a:moveTo>
                    <a:pt x="0" y="0"/>
                  </a:moveTo>
                  <a:lnTo>
                    <a:pt x="839759" y="0"/>
                  </a:lnTo>
                  <a:lnTo>
                    <a:pt x="839759" y="499422"/>
                  </a:lnTo>
                  <a:lnTo>
                    <a:pt x="0" y="499422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39759" cy="537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5394072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1004967" y="3542367"/>
            <a:ext cx="3819576" cy="3703410"/>
            <a:chOff x="0" y="0"/>
            <a:chExt cx="1005979" cy="9753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979" cy="975384"/>
            </a:xfrm>
            <a:custGeom>
              <a:avLst/>
              <a:gdLst/>
              <a:ahLst/>
              <a:cxnLst/>
              <a:rect r="r" b="b" t="t" l="l"/>
              <a:pathLst>
                <a:path h="975384" w="1005979">
                  <a:moveTo>
                    <a:pt x="0" y="0"/>
                  </a:moveTo>
                  <a:lnTo>
                    <a:pt x="1005979" y="0"/>
                  </a:lnTo>
                  <a:lnTo>
                    <a:pt x="1005979" y="975384"/>
                  </a:lnTo>
                  <a:lnTo>
                    <a:pt x="0" y="9753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005979" cy="11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94193" y="3750883"/>
            <a:ext cx="8953625" cy="125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0"/>
              </a:lnSpc>
              <a:spcBef>
                <a:spcPct val="0"/>
              </a:spcBef>
            </a:pPr>
            <a:r>
              <a:rPr lang="en-US" b="true" sz="7307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</a:t>
            </a:r>
            <a:r>
              <a:rPr lang="en-US" b="true" sz="7307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 Terraform 기본 개념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0572" y="9471322"/>
            <a:ext cx="17900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Terraform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325516" y="3804833"/>
            <a:ext cx="3178479" cy="3178479"/>
          </a:xfrm>
          <a:custGeom>
            <a:avLst/>
            <a:gdLst/>
            <a:ahLst/>
            <a:cxnLst/>
            <a:rect r="r" b="b" t="t" l="l"/>
            <a:pathLst>
              <a:path h="3178479" w="3178479">
                <a:moveTo>
                  <a:pt x="0" y="0"/>
                </a:moveTo>
                <a:lnTo>
                  <a:pt x="3178479" y="0"/>
                </a:lnTo>
                <a:lnTo>
                  <a:pt x="3178479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302634"/>
            <a:ext cx="6674355" cy="459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Provider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Terraform이 클라우드 서비스와 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연결할 수 있도록 해주는 플러그인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Provider 기본 구조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provider "&lt;PROVIDER_NAME&gt;" {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# Configuration arguments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3-1. Provider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0" y="3302634"/>
            <a:ext cx="6674355" cy="438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Provider 역할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인증 정보 제공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테라폼이 해당 클라우드 계정에 접근할 수 있도록 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인증 정보를 설정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기본 설정 지정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해당 클라우드의 리소스가 생성될 기본 리전과 같은 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전역 적인 설정을 지정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302634"/>
            <a:ext cx="6674355" cy="479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Terraform에서 실제 생성되는 인프라 자원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기본 구조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</a:t>
            </a: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"&lt;RESOURCE_TYPE&gt;" ”&lt;LOCAL_NAME&gt;” {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# Configuration arguments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3-2. Resource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0" y="3302634"/>
            <a:ext cx="6836268" cy="508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블록의 구조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블록의 타입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RESOURCE_TYPE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프로바이더가 제공하는 리소스의 종류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LOCAL_NAME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구성 파일 내에서 해당 리소스를 참조할 때 사용하는 고유이름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Configure arguments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리소스의 속성 정의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302634"/>
            <a:ext cx="6674355" cy="540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Variable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코드에서 값을 변수처럼 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저장하고 재사용하기 위한 기능</a:t>
            </a: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Variable 기본 구조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variable </a:t>
            </a: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"[VARIABLE_NAME]" {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type = type_constraint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default = default_value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description = description_string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                 . . .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3-3. Variable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0" y="2970168"/>
            <a:ext cx="6836268" cy="61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Variable 블록의 구조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variable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블록의 타입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VARIABLE_NAME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구성 파일 내에서 변수를 참조할 때 사용되는 이름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default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변수에 값이 제공되지 않을 경우 사용될 기본 값 지정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type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변수가 받아야 할 자료형 제약 조건을 지정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description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변수의 용도를 설명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302634"/>
            <a:ext cx="6674355" cy="580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Output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실행 후 생성된 결과 값을 출력하는 기능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Output 기본 구조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</a:t>
            </a: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"[OUTPUT_NAME]” {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value = expression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description = description_string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              . . .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3-4. Output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0" y="2998743"/>
            <a:ext cx="6836268" cy="61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Output 블록의 구조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output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블록의 타입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OUTPUT_TYPE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출력될 값에 대한 고유한 이름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value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필수 인자, 출력할 실제 값 또는 그 값을 계산하는 표현식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description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출력될 값이 무엇인지 설명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sensitive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값을 출력하라 때 터미널이나 원격 상태서 숨김처리 선택 지정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079755"/>
            <a:ext cx="13240831" cy="609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테라폼 상태 파일 (.tfstate)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Terraform이 현재 인프라 상태를 저장하는 파일</a:t>
            </a: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테라폼 상태 파일 역할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실제 인프라 매칭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상태 파일은 테라폼 구성코드와 실제 클라우드 리소스를 연결하는 다리 역할. 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파일에는 리소스의 ID, 속성 값, 메타데이터 등 모든 정보가 저장되어 있음.</a:t>
            </a:r>
          </a:p>
          <a:p>
            <a:pPr algn="l">
              <a:lnSpc>
                <a:spcPts val="4799"/>
              </a:lnSpc>
            </a:pPr>
            <a:r>
              <a:rPr lang="en-US" sz="23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성능 최적화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plan이나 apply를 실행할 때, 매번 클라우드 API를 호출하여 모든 리소스를 조회하는 대신,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상태 파일의 정보를 먼저 참고하여 변경 사항을 효율적으로 감지하고 실행 시간을 단축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의존성 관리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간의 관계와 의존성을 추적하여, 올바른 순서로 리소스를 생성하거나 파괴할 수 있게 보장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7762488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3-5. Terraform.tfstate 파일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5394072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1004967" y="3542367"/>
            <a:ext cx="3819576" cy="3703410"/>
            <a:chOff x="0" y="0"/>
            <a:chExt cx="1005979" cy="9753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979" cy="975384"/>
            </a:xfrm>
            <a:custGeom>
              <a:avLst/>
              <a:gdLst/>
              <a:ahLst/>
              <a:cxnLst/>
              <a:rect r="r" b="b" t="t" l="l"/>
              <a:pathLst>
                <a:path h="975384" w="1005979">
                  <a:moveTo>
                    <a:pt x="0" y="0"/>
                  </a:moveTo>
                  <a:lnTo>
                    <a:pt x="1005979" y="0"/>
                  </a:lnTo>
                  <a:lnTo>
                    <a:pt x="1005979" y="975384"/>
                  </a:lnTo>
                  <a:lnTo>
                    <a:pt x="0" y="9753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005979" cy="11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94193" y="3750883"/>
            <a:ext cx="8953625" cy="125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0"/>
              </a:lnSpc>
              <a:spcBef>
                <a:spcPct val="0"/>
              </a:spcBef>
            </a:pPr>
            <a:r>
              <a:rPr lang="en-US" b="true" sz="7307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</a:t>
            </a:r>
            <a:r>
              <a:rPr lang="en-US" b="true" sz="7307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 Terraform 작동 원리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0572" y="9471322"/>
            <a:ext cx="17900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Terraform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325516" y="3804833"/>
            <a:ext cx="3178479" cy="3178479"/>
          </a:xfrm>
          <a:custGeom>
            <a:avLst/>
            <a:gdLst/>
            <a:ahLst/>
            <a:cxnLst/>
            <a:rect r="r" b="b" t="t" l="l"/>
            <a:pathLst>
              <a:path h="3178479" w="3178479">
                <a:moveTo>
                  <a:pt x="0" y="0"/>
                </a:moveTo>
                <a:lnTo>
                  <a:pt x="3178479" y="0"/>
                </a:lnTo>
                <a:lnTo>
                  <a:pt x="3178479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283584"/>
            <a:ext cx="6503164" cy="443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sz="28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init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작업을 시작하기 위해 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필요한 초기 설정을 수행하는 명령어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특징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프로젝트 시작 시 가장 먼저 실행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.terraform 디렉토리 생성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필요한 Provider 자동 설치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4-1. Init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0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4-2. Validate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3302634"/>
            <a:ext cx="6503164" cy="4394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validate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코드의 문법과 설정이 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올바른지 검사하는 명령어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특징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인프라 생성 없이 검사만 수행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코드 작성 후 오류 확인 가능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배포 전 검증 단계에서 자주 사용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283584"/>
            <a:ext cx="6503164" cy="443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sz="28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plan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Terraform이 실제로 어떤 변경 작업을 수행할지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미리 보여주는 명령어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특징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실제 적용은 하지 않음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변경 내용을 사전에 확인 가능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실수 방지 및 검토에 유용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AutoShape 8" id="8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144000" y="3302634"/>
            <a:ext cx="6503164" cy="4394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apply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코드 내용을 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실제 클라우드 환경에 적용하는 명령어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특징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실제 인프라 변경 수행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terraform.tfstate 파일 업데이트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배포 단계에서 사용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4-3. Plan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4-4. Apply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187342" y="4006925"/>
            <a:ext cx="3523479" cy="3523479"/>
          </a:xfrm>
          <a:custGeom>
            <a:avLst/>
            <a:gdLst/>
            <a:ahLst/>
            <a:cxnLst/>
            <a:rect r="r" b="b" t="t" l="l"/>
            <a:pathLst>
              <a:path h="3523479" w="3523479">
                <a:moveTo>
                  <a:pt x="0" y="0"/>
                </a:moveTo>
                <a:lnTo>
                  <a:pt x="3523479" y="0"/>
                </a:lnTo>
                <a:lnTo>
                  <a:pt x="3523479" y="3523479"/>
                </a:lnTo>
                <a:lnTo>
                  <a:pt x="0" y="3523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69645" y="3302634"/>
            <a:ext cx="6674355" cy="389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destroy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Terraform이 생성한 인프라 자원을 삭제하는 명령어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특징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Terraform이 생성한 자원 전체 삭제 가능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테스트 환경 정리에 자주 사용</a:t>
            </a:r>
          </a:p>
          <a:p>
            <a:pPr algn="l">
              <a:lnSpc>
                <a:spcPts val="4000"/>
              </a:lnSpc>
            </a:pPr>
            <a:r>
              <a:rPr lang="en-US" sz="2000" b="true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비용 절감 유용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4-5. Destroy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5394072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1004967" y="3542367"/>
            <a:ext cx="3819576" cy="3703410"/>
            <a:chOff x="0" y="0"/>
            <a:chExt cx="1005979" cy="9753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979" cy="975384"/>
            </a:xfrm>
            <a:custGeom>
              <a:avLst/>
              <a:gdLst/>
              <a:ahLst/>
              <a:cxnLst/>
              <a:rect r="r" b="b" t="t" l="l"/>
              <a:pathLst>
                <a:path h="975384" w="1005979">
                  <a:moveTo>
                    <a:pt x="0" y="0"/>
                  </a:moveTo>
                  <a:lnTo>
                    <a:pt x="1005979" y="0"/>
                  </a:lnTo>
                  <a:lnTo>
                    <a:pt x="1005979" y="975384"/>
                  </a:lnTo>
                  <a:lnTo>
                    <a:pt x="0" y="9753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005979" cy="11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718585" y="3963358"/>
            <a:ext cx="2392341" cy="2861428"/>
          </a:xfrm>
          <a:custGeom>
            <a:avLst/>
            <a:gdLst/>
            <a:ahLst/>
            <a:cxnLst/>
            <a:rect r="r" b="b" t="t" l="l"/>
            <a:pathLst>
              <a:path h="2861428" w="2392341">
                <a:moveTo>
                  <a:pt x="0" y="0"/>
                </a:moveTo>
                <a:lnTo>
                  <a:pt x="2392341" y="0"/>
                </a:lnTo>
                <a:lnTo>
                  <a:pt x="2392341" y="2861428"/>
                </a:lnTo>
                <a:lnTo>
                  <a:pt x="0" y="2861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94193" y="3750883"/>
            <a:ext cx="8953625" cy="125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0"/>
              </a:lnSpc>
              <a:spcBef>
                <a:spcPct val="0"/>
              </a:spcBef>
            </a:pPr>
            <a:r>
              <a:rPr lang="en-US" b="true" sz="7307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5. TF 파일 분석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0572" y="9471322"/>
            <a:ext cx="17900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Terraform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853135" y="3197740"/>
            <a:ext cx="8602719" cy="5849849"/>
          </a:xfrm>
          <a:custGeom>
            <a:avLst/>
            <a:gdLst/>
            <a:ahLst/>
            <a:cxnLst/>
            <a:rect r="r" b="b" t="t" l="l"/>
            <a:pathLst>
              <a:path h="5849849" w="8602719">
                <a:moveTo>
                  <a:pt x="0" y="0"/>
                </a:moveTo>
                <a:lnTo>
                  <a:pt x="8602719" y="0"/>
                </a:lnTo>
                <a:lnTo>
                  <a:pt x="8602719" y="5849849"/>
                </a:lnTo>
                <a:lnTo>
                  <a:pt x="0" y="5849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45581" y="5525731"/>
            <a:ext cx="1575647" cy="89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9"/>
              </a:lnSpc>
            </a:pPr>
            <a:r>
              <a:rPr lang="en-US" sz="39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구성도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5-1. 구조 및 구성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57801" y="3372256"/>
            <a:ext cx="4569627" cy="530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{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required_version = "&gt;=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1.0.0, &lt;2.0.0"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required_providers {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aws</a:t>
            </a: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= {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  source  = "hashicorp/aws"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  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version = "~&gt; 5.0"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}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provider "aws" {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region = 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"ap-northeast-2" #Asia Pacific (seoul) region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866238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Terraform Provider.tf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335884" y="3372256"/>
            <a:ext cx="4569627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테라폼 버전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1.0.0 이상 2.0.0 미만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프로바이더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플러그인 버전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5.0 이상 6.0 미만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가용 영역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ap-northeast-2 #Asia Pacific (seoul) region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4515256"/>
            <a:ext cx="6143085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aws_vpc</a:t>
            </a: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terraform-vpc</a:t>
            </a: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cidr_block           = "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10.250.0.0/16</a:t>
            </a: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enable_dns_support   = 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true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enable_dns_hostnames =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true</a:t>
            </a:r>
          </a:p>
          <a:p>
            <a:pPr algn="l">
              <a:lnSpc>
                <a:spcPts val="3000"/>
              </a:lnSpc>
            </a:pPr>
            <a:r>
              <a:rPr lang="en-US" b="true" sz="15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3000"/>
              </a:lnSpc>
            </a:pPr>
            <a:r>
              <a:rPr lang="en-US" b="true" sz="15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"Name" = "</a:t>
            </a:r>
            <a:r>
              <a:rPr lang="en-US" b="true" sz="1500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terraform-vpc</a:t>
            </a:r>
            <a:r>
              <a:rPr lang="en-US" b="true" sz="15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3000"/>
              </a:lnSpc>
            </a:pPr>
            <a:r>
              <a:rPr lang="en-US" b="true" sz="15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3000"/>
              </a:lnSpc>
            </a:pPr>
            <a:r>
              <a:rPr lang="en-US" b="true" sz="15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7274698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VPC.tf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0" y="4515256"/>
            <a:ext cx="3278011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aws_vpc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terraform_vpc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CIDR 블록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10.25.0.0/16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22011" y="4515256"/>
            <a:ext cx="3278011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DNS 지원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true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DNS 호스트네임 활성화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true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b="true" sz="1500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3000"/>
              </a:lnSpc>
            </a:pPr>
            <a:r>
              <a:rPr lang="en-US" b="true" sz="15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terraform-vpc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2932681"/>
            <a:ext cx="4894314" cy="632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Public Subnet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terraform-pub-subnet-2a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vpc_id  = 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aws_vpc.terraform-vpc.id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cidr_block 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10.250.1.0/24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availability_zone 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ap-northeast-2a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map_public_ip_on_launch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true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"Name"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terraform-pub-subnet-2a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"kubernetes.io/role/elb" 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"kubernetes.io/cluster/terraform-eks-cluster"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shared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terraform-pub-subnet-2c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vpc_id = 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aws_vpc.terraform-vpc.id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cidr_block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10.250.2.0/24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availability_zone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ap-northeast-2c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map_public_ip_on_launch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true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tags = {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"Name"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terraform-pub-subnet-2c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"kubernetes.io/role/elb"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"kubernetes.io/cluster/terraform-eks-cluster"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shared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}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Subnet.tf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704603" y="3924057"/>
            <a:ext cx="2387273" cy="189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terraform_pub-subnet-2a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terraform_pub-subnet-2c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41150" y="4177505"/>
            <a:ext cx="3913577" cy="15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가용 영역 (AZ)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ap-northeast-2a / ap-northeast-2c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Public IP 자동 할당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true -&gt; 생성되는 인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스턴스가 자동으로 공인 IP 할당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2877" y="3924057"/>
            <a:ext cx="2387273" cy="189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VPC</a:t>
            </a: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연결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terraform-vpc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CIDR</a:t>
            </a: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블록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10.250.1.0/24 -&gt; 서브넷1 IP 범위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10.250.2.0/24 -&gt; 서브넷2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IP 범위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98240" y="6694360"/>
            <a:ext cx="6183598" cy="15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Name = 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terraform-pub-subnet-2a -&gt; 관리용 식별 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Name = 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terraform-pub-subnet-2c -&gt; 관리용 식별 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kubernetes.io/role/elb = 1 -&gt; EKS ALB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연동용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kubernetes.io/cluster/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terraform-eks-cluster = shared -&gt; EKS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클러스터와 연동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2937016"/>
            <a:ext cx="5234958" cy="636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Private Subnet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terraform-pri-subnet-2a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vpc_id            = 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aws_vpc.terraform-vpc.id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cidr_block      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10.250.11.0/24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availability_zone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ap-northeast-2a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"Name"                                      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terraform-pri-subnet-2a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"kubernetes.io/role/internal-elb"           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"kubernetes.io/cluster/terraform-eks-cluster"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shared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terraform-pri-subnet-2c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vpc_id = 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aws_vpc.terraform-vpc.id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cidr_block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10.250.12.0/24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availability_zone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ap-northeast-2c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tags =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"Name"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terraform-pri-subnet-2c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"kubernetes.io/role/internal-elb"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"kubernetes.io/cluster/terraform-eks-cluster"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shared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Subnet.tf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442514" y="3911153"/>
            <a:ext cx="2387273" cy="189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terraform_pri-subnet-2a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terraform_pri-subnet-2c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79061" y="4164602"/>
            <a:ext cx="3913577" cy="15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가용 영역 (AZ)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ap-northeast-2a / ap-northeast-2c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Public IP 자동 할당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true -&gt; 생성되는 인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스턴스가 자동으로 공인 IP 할당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29788" y="3911153"/>
            <a:ext cx="2993347" cy="189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VPC</a:t>
            </a: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연결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terraform-vpc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CIDR</a:t>
            </a: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블록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10.250.11.0/24 -&gt; 내부 리소스용1 IP 범위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10.250.12.0/24 -&gt; 내부 리소스용2 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IP 범위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10720" y="6604320"/>
            <a:ext cx="6183598" cy="15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Name = 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terraform-pri-subnet-2a -&gt; 관리용 식별 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Name = 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terraform-pri-subnet-2c -&gt; 관리용 식별 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kubernetes.io/role/internal-elb = 1 -&gt; EKS 내부 ELB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연동용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kubernetes.io/cluster/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terraform-eks-cluster = shared -&gt; EKS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클러스터와 연동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4886731"/>
            <a:ext cx="5234958" cy="253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6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aws_internet_gateway</a:t>
            </a: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6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terraform-igw</a:t>
            </a: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vpc_id = </a:t>
            </a:r>
            <a:r>
              <a:rPr lang="en-US" sz="16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aws_vpc.terraform-vpc.id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"Name" = "</a:t>
            </a:r>
            <a:r>
              <a:rPr lang="en-US" sz="16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terraform-igw</a:t>
            </a: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4. IGW.tf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972809" y="4772061"/>
            <a:ext cx="3357003" cy="254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aws_internet_gateway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terraform-igw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용도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퍼블릭 서브넷 인터넷 접근을 위한 게이트웨이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29812" y="5257736"/>
            <a:ext cx="3357003" cy="15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연결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terraform-vpc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terraform-igw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359784"/>
            <a:ext cx="6674355" cy="554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탄력적 IP</a:t>
            </a:r>
          </a:p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7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aws_eip</a:t>
            </a: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7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terraform-eip</a:t>
            </a: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domain = "</a:t>
            </a:r>
            <a:r>
              <a:rPr lang="en-US" sz="17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vpc</a:t>
            </a: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  <a:p>
            <a:pPr algn="l">
              <a:lnSpc>
                <a:spcPts val="3400"/>
              </a:lnSpc>
            </a:pPr>
          </a:p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NA</a:t>
            </a: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 게이트웨이</a:t>
            </a:r>
          </a:p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7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aws_nat_gateway</a:t>
            </a: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7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terraform-ngw</a:t>
            </a: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allocation_id = </a:t>
            </a:r>
            <a:r>
              <a:rPr lang="en-US" sz="17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aws_eip.terraform-eip.id</a:t>
            </a:r>
          </a:p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subnet_id     = </a:t>
            </a:r>
            <a:r>
              <a:rPr lang="en-US" sz="17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aws_subnet.terraform-pub-subnet-2a.id</a:t>
            </a:r>
          </a:p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"Name" = "</a:t>
            </a:r>
            <a:r>
              <a:rPr lang="en-US" sz="17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terraform-ngw</a:t>
            </a: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3400"/>
              </a:lnSpc>
            </a:pPr>
            <a:r>
              <a:rPr lang="en-US" sz="17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5. NGW.tf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0" y="3416934"/>
            <a:ext cx="3357003" cy="383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aws-eip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terraform-eip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용도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NAT 게이트웨이 또는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퍼블릭 인스턴스에 고정 공인 IP 할당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도메인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VPC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01003" y="3416934"/>
            <a:ext cx="3357003" cy="578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aws_nat_gateway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terraform-ngw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용도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프라이빗 서비스 인스턴스가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인터넷 접근 가능하도록 중계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연결 EIP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terraform-eip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퍼블릭 서브넷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terraform-pub-subnet-2a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terraform-ngw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5360" y="3476925"/>
            <a:ext cx="3580870" cy="513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라우팅 테이블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aws_route_table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terraform-pub-rt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vpc_id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aws_vpc.terraform-vpc.id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=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"Name"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terraform-pub-rt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aws_route_table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terraform-pri-rt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vpc_id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aws_vpc.terraform-vpc.id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"Name"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terraform-pri-rt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  <a:r>
              <a:rPr lang="en-US" b="true" sz="12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6. RT.tf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5306230" y="3476925"/>
            <a:ext cx="4445764" cy="383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라우팅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aws_route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terraform-pub-rt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route_table_id      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aws_route_table.terraform-pub-rt.id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destination_cidr_block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0.0.0.0/0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gateway_id          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aws_internet_gateway.terraform-igw.id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aws_route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terraform-pri-rt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route_table_id      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aws_route_table.terraform-pri-rt.id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destination_cidr_block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0.0.0.0/0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nat_gateway_id      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aws_nat_gateway.terraform-ngw.id</a:t>
            </a:r>
          </a:p>
          <a:p>
            <a:pPr algn="l">
              <a:lnSpc>
                <a:spcPts val="2599"/>
              </a:lnSpc>
            </a:pPr>
            <a:r>
              <a:rPr lang="en-US" b="true" sz="12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1008" y="3476925"/>
            <a:ext cx="3357003" cy="448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terraform-pub-rt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용도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퍼블릭 서브넷용 라우팅 테이블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연결 VPC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terraform-vpc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라우팅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0.0.0.0 → 인터넷 게이트웨이(terraform-igw)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terraform-pub-rt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05637" y="3476925"/>
            <a:ext cx="3357003" cy="448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terraform-pri-rt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용도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프라이빗 서브넷용 라우팅 테이블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연결 VPC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terraform-vpc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라우팅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0.0.0.0 → NAT 게이트웨이(terraform-ngw)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terraform-pri-rt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253141"/>
            <a:ext cx="4407284" cy="513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Bastion SG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aws_security_group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terraform-sg-bastion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name        = "terraform-sg-bastion"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description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for Bastion Server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vpc_id      = aws_vpc.terraform-vpc.id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"Name" = "terraform-sg-bastion"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-1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-1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"icmp"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ping"</a:t>
            </a:r>
          </a:p>
          <a:p>
            <a:pPr algn="l">
              <a:lnSpc>
                <a:spcPts val="2599"/>
              </a:lnSpc>
            </a:pPr>
            <a:r>
              <a:rPr lang="en-US" b="true" sz="12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7. Security Group.tf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876929" y="3557908"/>
            <a:ext cx="2507137" cy="481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22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22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"tcp"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SSH"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80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80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"tcp"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HTTP"</a:t>
            </a:r>
          </a:p>
          <a:p>
            <a:pPr algn="l">
              <a:lnSpc>
                <a:spcPts val="2599"/>
              </a:lnSpc>
            </a:pPr>
            <a:r>
              <a:rPr lang="en-US" b="true" sz="12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5657" y="3557908"/>
            <a:ext cx="2467824" cy="481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443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443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"tcp"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HTTPS"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3306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3306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"tcp"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DB"</a:t>
            </a:r>
          </a:p>
          <a:p>
            <a:pPr algn="l">
              <a:lnSpc>
                <a:spcPts val="2599"/>
              </a:lnSpc>
            </a:pPr>
            <a:r>
              <a:rPr lang="en-US" b="true" sz="12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73481" y="3557908"/>
            <a:ext cx="2467824" cy="222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egress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-1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73481" y="5920247"/>
            <a:ext cx="1624243" cy="254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terraform-sg-bastion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용도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Bastion 서버용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Egress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전체 트래픽 허용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97724" y="5920247"/>
            <a:ext cx="3357003" cy="189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허용 규칙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ICMP (-1) → 전체 (0.0.0.0/0) (Ping 허용)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TCP 22 (SSH) → 전체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TCP 80 (HTTP) → 전체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TCP 443 (HTTPS) → 전체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TCP 3306 (MySQL DB) → 전체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902609"/>
            <a:ext cx="3804479" cy="383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ALB SG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aws_security_group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terraform-sg-alb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name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for ALB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vpc_id = aws_vpc.terraform-vpc.id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80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80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"tcp"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HTTP"</a:t>
            </a:r>
          </a:p>
          <a:p>
            <a:pPr algn="l">
              <a:lnSpc>
                <a:spcPts val="2599"/>
              </a:lnSpc>
            </a:pPr>
            <a:r>
              <a:rPr lang="en-US" b="true" sz="12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7. Security Group.tf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274124" y="3416934"/>
            <a:ext cx="2698685" cy="481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443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443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"tcp"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HTTPS"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egress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-1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13333" y="3902609"/>
            <a:ext cx="3357003" cy="383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for ALB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용도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Application Load Balancer용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허용 규칙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TCP 80 (HTTP) → 전체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TCP 443 (HTTPS) → 전체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Egress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전체 트래픽 허용 (0.0.0.0/0)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386491"/>
            <a:ext cx="4407284" cy="417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EKS SG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3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aws_security_group</a:t>
            </a: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3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terraform-sg-eks-node-group</a:t>
            </a: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name   = "</a:t>
            </a:r>
            <a:r>
              <a:rPr lang="en-US" sz="13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for EKS-managed server</a:t>
            </a: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vpc_id = aws_vpc.terraform-vpc.id</a:t>
            </a:r>
          </a:p>
          <a:p>
            <a:pPr algn="l">
              <a:lnSpc>
                <a:spcPts val="2600"/>
              </a:lnSpc>
            </a:pP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-1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-1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"icmp"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ping"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7. Security Group.tf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876929" y="3386491"/>
            <a:ext cx="2507137" cy="482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</a:t>
            </a:r>
            <a:r>
              <a:rPr lang="en-US" sz="13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22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22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"tcp"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SSH"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600"/>
              </a:lnSpc>
            </a:pP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</a:t>
            </a:r>
            <a:r>
              <a:rPr lang="en-US" sz="13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80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80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"tcp"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HTTP"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4066" y="3386491"/>
            <a:ext cx="2467824" cy="482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</a:t>
            </a:r>
            <a:r>
              <a:rPr lang="en-US" sz="13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443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443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"tcp"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HTTPS"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600"/>
              </a:lnSpc>
            </a:pP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egress {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0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0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</a:t>
            </a:r>
            <a:r>
              <a:rPr lang="en-US" sz="13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-1</a:t>
            </a: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600"/>
              </a:lnSpc>
            </a:pPr>
            <a:r>
              <a:rPr lang="en-US" sz="13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58257" y="3881691"/>
            <a:ext cx="3357003" cy="383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for EKS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용도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EKS용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허용 규칙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TCP 80 (HTTP) → 전체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TCP 443 (HTTPS) → 전체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Egress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전체 트래픽 허용 (0.0.0.0/0)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943551"/>
            <a:ext cx="4407284" cy="454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RDS SG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"aws_security_group" "terraform-sg-rds" {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name   = "</a:t>
            </a:r>
            <a:r>
              <a:rPr lang="en-US" sz="14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for RDS</a:t>
            </a: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vpc_id = aws_vpc.terraform-vpc.id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ingress {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</a:t>
            </a:r>
            <a:r>
              <a:rPr lang="en-US" sz="14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3306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3306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"tcp"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description = "for DB"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7. Security Group.tf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876929" y="4914903"/>
            <a:ext cx="2507137" cy="242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egress {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from_port   = 0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to_port     = 0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protocol    = "</a:t>
            </a:r>
            <a:r>
              <a:rPr lang="en-US" sz="14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-1</a:t>
            </a: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cidr_blocks = ["0.0.0.0/0"]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800"/>
              </a:lnSpc>
            </a:pPr>
            <a:r>
              <a:rPr lang="en-US" sz="14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47811" y="4286385"/>
            <a:ext cx="3357003" cy="351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for RDS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용도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RDS(데이터베이스) 용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허용 규칙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TCP 3306 (MySQL DB) → 전체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Egress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전체 트래픽 허용 (0.0.0.0/0)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3800709"/>
            <a:ext cx="4632322" cy="448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tls_private_key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soonge97_key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algorithm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RSA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rsa_bits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2048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aws_key_pair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soonge97_aws_key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key_name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soonge97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public_key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tls_private_key.soonge97_key.public_key_openssh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local_file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soonge97_private_key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content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tls_private_key.soonge97_key.private_key_pem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filename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soonge97.pem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8. Key Pair.tf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789951" y="3962601"/>
            <a:ext cx="1994140" cy="416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tls_private_key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soonge97_key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속성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algorithm: RSA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rsa_bits: 2048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추가 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 내부에서 RSA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개인 키를 생성하는 리소스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84091" y="3962601"/>
            <a:ext cx="3553570" cy="416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tls_key_pair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soonge97_aws_key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속성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key_name: soonge97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public_key: tls_private_key.soonge97_key.public_key_openssh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추가 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생성한 공개키를 AWS에 등록해 Key Pair 생성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7661" y="3962601"/>
            <a:ext cx="3330794" cy="448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local_file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soonge97_private_key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속성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content: 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tls_private_key.soonge97_key.private_key_pem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filename: soonge97.pem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추가 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Terraform에서 생성한 개인키를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로컬 파일로 저장해서 SSH 접속용으로 사용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44319" y="3112015"/>
            <a:ext cx="5560476" cy="575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1. AWS로부터 최신 Amazon Linux 2023 이미지 ID를 실시간으로 조회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data "aws_ami" "bastion_amazon_linux_2023"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most_recent = true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owners      = ["amazon"]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filter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  = "name"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values = ["al2023-ami-2023.*-x86_64"]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2. Bastion EC2 생성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aws_instance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terraform-pub-ec2-bastion-2a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ami = 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data.aws_ami.bastion_amazon_linux_2023.id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# 자동 조회된 최신 ID 매칭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instance_type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t3.micro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vpc_security_group_ids = [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aws_security_group.terraform-sg-bastion.id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]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subnet_id = 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aws_subnet.terraform-pub-subnet-2a.id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key_name = 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aws_key_pair.soonge97_aws_key.key_name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# 리소스 참조로 순서 보장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associate_public_ip_address =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true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9. EC2.tf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204795" y="4331083"/>
            <a:ext cx="3201128" cy="331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root_block_device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volume_size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8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volume_type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gp2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tags =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  "Name" = 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"terraform-pub-ec2-bastion-2a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"Name"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terraform-pub-ec2-bastion-2a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b="true" sz="12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05924" y="3745894"/>
            <a:ext cx="3357003" cy="448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aws_instance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terraform-pub-ec2-bastion-2a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AMI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data.aws_ami.bastion_amazon_linux_2023.id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인스턴스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t3.micro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보안 그룹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terraform-sg-bastion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62927" y="3745894"/>
            <a:ext cx="2880754" cy="448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서브넷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terraform-pub-subnet-2a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키 페어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soonge97 (SSH 접속용)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퍼블릭 IP 할당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true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스토리지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Root Vloume: 8GB, gp2 타입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terraform-pub-ec2-bastion-2a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4134256"/>
            <a:ext cx="6503164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RDS 서브넷 그룹 생성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aws_db_subnet_group</a:t>
            </a: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terraform-rds-subnet-group</a:t>
            </a: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name       = "terraform-rds-subnet-group"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subnet_ids = [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aws_subnet.terraform-pri-subnet-2a.id</a:t>
            </a: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, 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aws_subnet.terraform-pri-subnet-2c.id</a:t>
            </a: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]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= "</a:t>
            </a:r>
            <a:r>
              <a:rPr lang="en-US" sz="15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terraform-rds-subnet-group</a:t>
            </a: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3000"/>
              </a:lnSpc>
            </a:pPr>
            <a:r>
              <a:rPr lang="en-US" sz="15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3000"/>
              </a:lnSpc>
            </a:pPr>
            <a:r>
              <a:rPr lang="en-US" b="true" sz="15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 RDS.tf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1125035" y="3962601"/>
            <a:ext cx="4071525" cy="383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aws_db_subnet_group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terrform-rds-subnet-group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서브넷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aws_subnet.terraform-pri-subnet-2a.id aws_subnet.terraform-pri-subnet-2c.id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terraform-rds-subnet-group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2984487"/>
            <a:ext cx="5111857" cy="544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MariaDB Parameter Group 설정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aws_db_parameter_group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terraform-mariadb-parameter-group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name        = "terraform-mariadb-parameter-group"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family    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mariadb10.11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# 사용 중인 MariaDB 버전에 맞게 조정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description = "Custom parameter group for MariaDB"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parameter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max_connections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150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parameter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time_zone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Asia/Seoul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parameter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character_set_client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utf8mb4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 RDS.tf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5025574" y="4813088"/>
            <a:ext cx="2900530" cy="3621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parameter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character_set_connection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utf8mb4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parameter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character_set_database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utf8mb4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parameter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character_set_filesystem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utf8mb4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33594" y="2984487"/>
            <a:ext cx="2820811" cy="240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parameter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character_set_results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utf8mb4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parameter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character_set_server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utf8mb4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33594" y="5332525"/>
            <a:ext cx="2820811" cy="392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parameter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collation_connection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utf8mb4_unicode_ci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parameter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collation_server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utf8mb4_unicode_ci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parameter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binlog_format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ROW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43574" y="3623693"/>
            <a:ext cx="4071525" cy="481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aws_db_parameter_group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terrform-mariadb-parameter-group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DB 엔진 패밀리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mariadb10.11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설정 값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max_connection = 150 → 동시 접속자 수 조정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time_zone = Asia/Seoul → 한국 시간대 설정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character_set_* = utf8mb4 → 최신 UTF-8 문자셋 적용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collation_* = utf8mb4_unicode_ci → 문자열 정렬 규칙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binlo_format = ROW → 복제/백업 안정성 강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2892940"/>
            <a:ext cx="7752816" cy="642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RDS 생성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aws_db_instance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terraform-mariadb-rds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identifier_prefix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terraform-mariadb-rds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allocated_storage 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engine           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mariadb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engine_version   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10.11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instance_class   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db.t3.micro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db_name          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terraform_mariadb_rds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# 영문자로 시작해야 하며 영문자와 숫자, _만 가능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username         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root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password         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Password1234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# 8자 이상, 영문 대소문자, 숫자 및 특수 문자를 혼합하여 사용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parameter_group_name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terraform-mariadb-parameter-group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skip_final_snapshot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true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#multi_az            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true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db_subnet_group_name   = aws_db_subnet_group.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terraform-rds-subnet-group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.name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vpc_security_group_ids = [aws_security_group.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terraform-sg-rds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.id]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= "terraform-mariadb-rds"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10. RDS.tf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22461" y="3864292"/>
            <a:ext cx="3357003" cy="448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aws_db_instance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terraform-mariadb-rds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DB 엔진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mariadb (10.11.8)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인스턴스 클래스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db.t3.micro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스토리지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10GB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9464" y="3054832"/>
            <a:ext cx="3234319" cy="610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DB명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terraform_mariadb_rds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계정 정보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username = root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password = Password1234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파라미터 그룹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terraform-mariadb-parameter-group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네트워크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서브넷 그룹: terraform-rds-subnet-group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보안 그룹: terraform-sg-rds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기타설정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skip_final_snapshot = true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(삭제 시 스냅샷 미생성 - 개발환경용)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multi_az → 주석처리 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(실무에서는 활성화 권장)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5396953"/>
            <a:ext cx="4487476" cy="124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6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aws_s3_bucket</a:t>
            </a: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"mjc-2026-demo" {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bucket = "</a:t>
            </a:r>
            <a:r>
              <a:rPr lang="en-US" sz="16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mjct-2026-sjs</a:t>
            </a: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3399"/>
              </a:lnSpc>
            </a:pPr>
            <a:r>
              <a:rPr lang="en-US" b="true" sz="16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11. S3.tf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1323108" y="5111203"/>
            <a:ext cx="3357003" cy="210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aws_s3_bucket</a:t>
            </a:r>
          </a:p>
          <a:p>
            <a:pPr algn="l">
              <a:lnSpc>
                <a:spcPts val="3399"/>
              </a:lnSpc>
            </a:pP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버킷명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mjct-2026-sjs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15708" y="3962601"/>
            <a:ext cx="2951856" cy="416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인증서 생성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aws_acm_certificate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cert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domain_name   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*.jaeseop.store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validation_method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DNS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jaeseop.store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lifecycle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create_before_destroy = true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  <a:r>
              <a:rPr lang="en-US" b="true" sz="12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12. ACM.tf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4877939" y="3123336"/>
            <a:ext cx="4720957" cy="578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인증서 검증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aws_route53_record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route53_ssl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for_each =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for dvo in aws_acm_certificate.cert.domain_validation_options : dvo.domain_name =&gt;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  name   = dvo.resource_record_name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  record = dvo.resource_record_value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  type   = dvo.resource_record_type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}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allow_overwrite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true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name            = each.value.name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records         = [each.value.record]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ttl          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60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type            = each.value.type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zone_id      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aws_route53_zone.route53.zone_id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49669" y="3255422"/>
            <a:ext cx="2177602" cy="545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aws_acm_certificate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cert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생성 이름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.jaeseop.store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서브넷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DNS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퍼블릭 여부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create_before_destroy = true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jaeseop.store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12996" y="3153141"/>
            <a:ext cx="4414444" cy="578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aws_route53_record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route53_ssl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구성 방식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for_each 구문을 활용하여,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aws_acm_certificate.cert.domain_validation_options 값들을 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자동으로 가져옴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ACM이 제시한 검증 레코드(CNAME)를 Route53에 자동 등록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특징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allow_overwirte = true 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→ 기존 레코드가 있더라도 덮어쓰기 가능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ttl = 60 → 빠른 검증 반영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- zone_id = aws_route53_zone.route53.zone_id 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→ 앞서 만든 Hosted Zone에 연결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69645" y="5396953"/>
            <a:ext cx="4049509" cy="124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6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aws_route53_zone</a:t>
            </a: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6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route53</a:t>
            </a: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name = "</a:t>
            </a:r>
            <a:r>
              <a:rPr lang="en-US" sz="16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jaeseop.store</a:t>
            </a: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3399"/>
              </a:lnSpc>
            </a:pPr>
            <a:r>
              <a:rPr lang="en-US" b="true" sz="16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13. Route53.tf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165940" y="4325390"/>
            <a:ext cx="4793541" cy="338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aws_route53_zone (AWS Route53에 호스팅 존 생성)</a:t>
            </a:r>
          </a:p>
          <a:p>
            <a:pPr algn="l">
              <a:lnSpc>
                <a:spcPts val="3399"/>
              </a:lnSpc>
            </a:pP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도메인명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jaeseop.store</a:t>
            </a:r>
          </a:p>
          <a:p>
            <a:pPr algn="l">
              <a:lnSpc>
                <a:spcPts val="3399"/>
              </a:lnSpc>
            </a:pP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3399"/>
              </a:lnSpc>
            </a:pPr>
            <a:r>
              <a:rPr lang="en-US" sz="16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route53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20738" y="3759583"/>
            <a:ext cx="4354033" cy="448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####### lb 생성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aws_lb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web-lb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name           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web-lb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subnets            =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[aws_subnet.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terraform-pub-subnet-2a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.id, 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aws_subnet.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terraform-pub-subnet-2c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.id]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internal        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false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load_balancer_type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application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"Name"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web-lb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# ALB 전용 보안 그룹으로 올바르게 매칭되어 있습니다.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security_groups = [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aws_security_group.terraform-sg-alb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.id]</a:t>
            </a:r>
          </a:p>
          <a:p>
            <a:pPr algn="l">
              <a:lnSpc>
                <a:spcPts val="2599"/>
              </a:lnSpc>
            </a:pPr>
            <a:r>
              <a:rPr lang="en-US" b="true" sz="12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14. ALB.tf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0" y="4083367"/>
            <a:ext cx="3357003" cy="383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aws_lb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web-lb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생성 이름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web-lb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서브넷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terraform-pub-subnet-2a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01003" y="4245259"/>
            <a:ext cx="3357003" cy="351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퍼블릭 여부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false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보안 그룹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aws_security_group.terraform-sg-alb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application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web-lb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475630" y="4286385"/>
            <a:ext cx="4576808" cy="351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############Listener 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aws_lb_listener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terraform-prd-listener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load_balancer_arn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aws_lb.web-lb.arn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port          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80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protocol         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HTTP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default_action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target_group_arn = aws_lb_target_group.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terraform-prd-tg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.arn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type             = "forward"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14. ALB.tf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2436104" y="3153141"/>
            <a:ext cx="4039526" cy="578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############## Target Group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aws_lb_target_group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terraform-prd-tg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name     =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"terraform-prd-tg"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port  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80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protocol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HTTP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vpc_id  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aws_vpc.terraform-vpc.id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# [수정] Nginx 웹 서버가 HTML 파일을 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확실하게 응답하는지 체크하도록 경로를 명시했습니다.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health_check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port = 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80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path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/index.html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"Name" = "</a:t>
            </a:r>
            <a:r>
              <a:rPr lang="en-US" sz="1299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terraform-prd-tg</a:t>
            </a: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599"/>
              </a:lnSpc>
            </a:pPr>
            <a:r>
              <a:rPr lang="en-US" b="true" sz="12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599"/>
              </a:lnSpc>
            </a:pPr>
            <a:r>
              <a:rPr lang="en-US" b="true" sz="12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52438" y="3221568"/>
            <a:ext cx="2526899" cy="578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aws_lb_target_group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terraform-prd-tg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트래픽 규칙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port = 80 / protocol = “HTTP”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VPC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aws_vpc.terraform-vpc.id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헬스 체크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port = 80 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path = “/index.html”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terraform-prd-tg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9337" y="4591152"/>
            <a:ext cx="3448734" cy="351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aws_lb_listener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terraform-prd-listener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로드밸런서 ARN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aws_lb.web-lb.arn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Default Auction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Target Group(terraform-prd-tg)으로 트래픽 전달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98454" y="2936739"/>
            <a:ext cx="4856475" cy="59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[자동화] AWS로부터 현재 사용 가능한 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최신 Amazon Linux 2023 이미지 ID를 실시간으로 조회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data "aws_ami" "amazon_linux_2023"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most_recent = true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owners      = ["amazon"]</a:t>
            </a:r>
          </a:p>
          <a:p>
            <a:pPr algn="l">
              <a:lnSpc>
                <a:spcPts val="600"/>
              </a:lnSpc>
            </a:pP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filter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name   = "name"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values = ["al2023-ami-2023.*-x86_64"]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1. Launch Template 생성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aws_launch_template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as_template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# 캐시 꼬임을 완전히 파괴하기 위해 이름 접두사를 신규 버전으로 변경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name_prefix = "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terraform-lt-v3-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600"/>
              </a:lnSpc>
            </a:pP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# 실시간으로 찾아온 최신 살아있는 ID를 자동으로 삽입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image_id = 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data.aws_ami.amazon_linux_2023.id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instance_type = "t3.micro" # 서울 리전 가용 영역 자원 부족 우회용 규격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key_name = aws_key_pair.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soonge97</a:t>
            </a: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_aws_key.key_name</a:t>
            </a:r>
          </a:p>
          <a:p>
            <a:pPr algn="l">
              <a:lnSpc>
                <a:spcPts val="600"/>
              </a:lnSpc>
            </a:pP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vpc_security_group_ids = [aws_security_group.terraform-sg-bastion.id]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15. AutoScaling.tf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154929" y="2936739"/>
            <a:ext cx="4301615" cy="396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# 조장이 작성한 4RSENAL 팀 정보 HTML을 완벽히 이식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user_data = base64encode(&lt;&lt;-EOF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#!/bin/bash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sudo dnf update -y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sudo dnf install -y nginx</a:t>
            </a:r>
          </a:p>
          <a:p>
            <a:pPr algn="l">
              <a:lnSpc>
                <a:spcPts val="600"/>
              </a:lnSpc>
            </a:pP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# Nginx 서비스를 먼저 활성화하고 켭니다.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sudo systemctl enable nginx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sudo systemctl start nginx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# 기존 기본 화면을 지우고 내가 만든 HTML을 넣습니다.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sudo rm -f /usr/share/nginx/html/index.html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sudo cat &lt;&lt; 'HTML' &gt; /usr/share/nginx/html/index.html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&lt;!DOCTYPE html&gt;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 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[HTML 내용 생략]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72613" y="7357838"/>
            <a:ext cx="2526899" cy="15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aws_launch_template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as_template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9337" y="5191460"/>
            <a:ext cx="3077286" cy="383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보안 그룹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aws_security_group.terraform-sg-bastion.id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User Data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패키지 업데이트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태그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“jeff-userdata”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라이프사이클 정책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create_before_destroy = true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(수정 시 기존 리소스 삭제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94946" y="2902465"/>
            <a:ext cx="3908481" cy="425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"/>
              </a:lnSpc>
            </a:pP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# 변경된 HTML을 적용하기 위해 Nginx를 안전하게 리로드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sudo systemctl reload nginx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EOF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)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tag_specifications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resource_type = "instance"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tags =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Name = "jeff-userdata"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lifecycle {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r>
              <a:rPr lang="en-US" sz="12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create_before_destroy = true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}</a:t>
            </a:r>
          </a:p>
          <a:p>
            <a:pPr algn="l">
              <a:lnSpc>
                <a:spcPts val="2400"/>
              </a:lnSpc>
            </a:pPr>
            <a:r>
              <a:rPr lang="en-US" sz="12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05737" y="7357838"/>
            <a:ext cx="2526899" cy="15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접두사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terraform-It-v3-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이미지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data.aws_ami.amazon_linux_2023.id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54361" y="7357838"/>
            <a:ext cx="2526899" cy="15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인스턴스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t3.micro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키페어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soonge97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9645" y="1753624"/>
            <a:ext cx="650316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15. AutoScaling.tf</a:t>
            </a:r>
          </a:p>
        </p:txBody>
      </p:sp>
      <p:sp>
        <p:nvSpPr>
          <p:cNvPr name="AutoShape 8" id="8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469645" y="2976973"/>
            <a:ext cx="6674355" cy="613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2. Auto-Scaling 그룹 생성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resource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aws_autoscaling_group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terraform-prd-asg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 {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name                     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terraform-prd-asg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vpc_zone_identifier       = [aws_subnet.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terraform-pub-subnet-2a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.id, aws_subnet.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terraform-pub-subnet-2c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.id]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min_size                  = 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max_size                  = 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desired_capacity          = 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health_check_grace_period = 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120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health_check_type         = "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ELB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target_group_arns         = [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aws_lb_target_group.terraform-prd-tg.arn</a:t>
            </a: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]</a:t>
            </a:r>
          </a:p>
          <a:p>
            <a:pPr algn="l">
              <a:lnSpc>
                <a:spcPts val="1200"/>
              </a:lnSpc>
            </a:pP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launch_template {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id      = aws_launch_template.as_template.id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version = "$Latest"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depends_on = [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aws_lb.web-lb,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aws_lb_target_group.terraform-prd-tg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]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lifecycle {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 </a:t>
            </a:r>
            <a:r>
              <a:rPr lang="en-US" sz="1100" b="true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create_before_destroy = true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}</a:t>
            </a:r>
          </a:p>
          <a:p>
            <a:pPr algn="l">
              <a:lnSpc>
                <a:spcPts val="2200"/>
              </a:lnSpc>
            </a:pPr>
            <a:r>
              <a:rPr lang="en-US" sz="11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36822" y="4124493"/>
            <a:ext cx="1910989" cy="383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 타입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aws_autoscaling_group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리소스명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terraform-pri-asg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생성 이름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terraform-pri-asg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VCP 서브넷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terraform-pub-subnet-2a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terraform-pub-subnet-2c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0963" y="3962601"/>
            <a:ext cx="3448734" cy="416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스케일링 설정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인스턴스 수: 2-4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기본 용량: 3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헬스 체크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유형: ELB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유예 기간: 120s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대상 그룹 연결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aws_lb_target_group.terraform-prd-tg.arn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라이프사이클 정책</a:t>
            </a:r>
          </a:p>
          <a:p>
            <a:pPr algn="l">
              <a:lnSpc>
                <a:spcPts val="2599"/>
              </a:lnSpc>
            </a:pPr>
            <a:r>
              <a:rPr lang="en-US" sz="12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create_before_destroy = true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5394072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1004967" y="3542367"/>
            <a:ext cx="3819576" cy="3703410"/>
            <a:chOff x="0" y="0"/>
            <a:chExt cx="1005979" cy="9753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979" cy="975384"/>
            </a:xfrm>
            <a:custGeom>
              <a:avLst/>
              <a:gdLst/>
              <a:ahLst/>
              <a:cxnLst/>
              <a:rect r="r" b="b" t="t" l="l"/>
              <a:pathLst>
                <a:path h="975384" w="1005979">
                  <a:moveTo>
                    <a:pt x="0" y="0"/>
                  </a:moveTo>
                  <a:lnTo>
                    <a:pt x="1005979" y="0"/>
                  </a:lnTo>
                  <a:lnTo>
                    <a:pt x="1005979" y="975384"/>
                  </a:lnTo>
                  <a:lnTo>
                    <a:pt x="0" y="9753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005979" cy="11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186505" y="3638059"/>
            <a:ext cx="1505441" cy="1505441"/>
          </a:xfrm>
          <a:custGeom>
            <a:avLst/>
            <a:gdLst/>
            <a:ahLst/>
            <a:cxnLst/>
            <a:rect r="r" b="b" t="t" l="l"/>
            <a:pathLst>
              <a:path h="1505441" w="1505441">
                <a:moveTo>
                  <a:pt x="0" y="0"/>
                </a:moveTo>
                <a:lnTo>
                  <a:pt x="1505441" y="0"/>
                </a:lnTo>
                <a:lnTo>
                  <a:pt x="1505441" y="1505441"/>
                </a:lnTo>
                <a:lnTo>
                  <a:pt x="0" y="1505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36006" y="5641722"/>
            <a:ext cx="1357499" cy="1402749"/>
          </a:xfrm>
          <a:custGeom>
            <a:avLst/>
            <a:gdLst/>
            <a:ahLst/>
            <a:cxnLst/>
            <a:rect r="r" b="b" t="t" l="l"/>
            <a:pathLst>
              <a:path h="1402749" w="1357499">
                <a:moveTo>
                  <a:pt x="0" y="0"/>
                </a:moveTo>
                <a:lnTo>
                  <a:pt x="1357499" y="0"/>
                </a:lnTo>
                <a:lnTo>
                  <a:pt x="1357499" y="1402749"/>
                </a:lnTo>
                <a:lnTo>
                  <a:pt x="0" y="1402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94193" y="2703133"/>
            <a:ext cx="8953625" cy="254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0"/>
              </a:lnSpc>
              <a:spcBef>
                <a:spcPct val="0"/>
              </a:spcBef>
            </a:pPr>
            <a:r>
              <a:rPr lang="en-US" b="true" sz="7307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6. Github, Terraform Cloud, AWS 연동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0572" y="9471322"/>
            <a:ext cx="17900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Terraform 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234871" y="3804833"/>
            <a:ext cx="1338667" cy="1338667"/>
          </a:xfrm>
          <a:custGeom>
            <a:avLst/>
            <a:gdLst/>
            <a:ahLst/>
            <a:cxnLst/>
            <a:rect r="r" b="b" t="t" l="l"/>
            <a:pathLst>
              <a:path h="1338667" w="1338667">
                <a:moveTo>
                  <a:pt x="0" y="0"/>
                </a:moveTo>
                <a:lnTo>
                  <a:pt x="1338667" y="0"/>
                </a:lnTo>
                <a:lnTo>
                  <a:pt x="1338667" y="1338667"/>
                </a:lnTo>
                <a:lnTo>
                  <a:pt x="0" y="13386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469645" y="4768167"/>
            <a:ext cx="4082582" cy="2923178"/>
          </a:xfrm>
          <a:custGeom>
            <a:avLst/>
            <a:gdLst/>
            <a:ahLst/>
            <a:cxnLst/>
            <a:rect r="r" b="b" t="t" l="l"/>
            <a:pathLst>
              <a:path h="2923178" w="4082582">
                <a:moveTo>
                  <a:pt x="0" y="0"/>
                </a:moveTo>
                <a:lnTo>
                  <a:pt x="4082583" y="0"/>
                </a:lnTo>
                <a:lnTo>
                  <a:pt x="4082583" y="2923178"/>
                </a:lnTo>
                <a:lnTo>
                  <a:pt x="0" y="2923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51395" y="3922964"/>
            <a:ext cx="3902226" cy="1391100"/>
          </a:xfrm>
          <a:custGeom>
            <a:avLst/>
            <a:gdLst/>
            <a:ahLst/>
            <a:cxnLst/>
            <a:rect r="r" b="b" t="t" l="l"/>
            <a:pathLst>
              <a:path h="1391100" w="3902226">
                <a:moveTo>
                  <a:pt x="0" y="0"/>
                </a:moveTo>
                <a:lnTo>
                  <a:pt x="3902227" y="0"/>
                </a:lnTo>
                <a:lnTo>
                  <a:pt x="3902227" y="1391100"/>
                </a:lnTo>
                <a:lnTo>
                  <a:pt x="0" y="1391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33" t="0" r="-7171" b="-18106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51395" y="6805550"/>
            <a:ext cx="4546188" cy="2131026"/>
          </a:xfrm>
          <a:custGeom>
            <a:avLst/>
            <a:gdLst/>
            <a:ahLst/>
            <a:cxnLst/>
            <a:rect r="r" b="b" t="t" l="l"/>
            <a:pathLst>
              <a:path h="2131026" w="4546188">
                <a:moveTo>
                  <a:pt x="0" y="0"/>
                </a:moveTo>
                <a:lnTo>
                  <a:pt x="4546189" y="0"/>
                </a:lnTo>
                <a:lnTo>
                  <a:pt x="4546189" y="2131026"/>
                </a:lnTo>
                <a:lnTo>
                  <a:pt x="0" y="2131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69645" y="3521767"/>
            <a:ext cx="3464633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Github Repository 생성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69645" y="1753624"/>
            <a:ext cx="8666484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6-1. Github Repostiory 생성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1395" y="3302634"/>
            <a:ext cx="3464633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Repository 이름 설정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51395" y="6185220"/>
            <a:ext cx="3464633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Repository 생성 확인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081791" y="4348494"/>
            <a:ext cx="540041" cy="54004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1884449" y="5579634"/>
            <a:ext cx="540041" cy="54004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528480" y="6717943"/>
            <a:ext cx="790260" cy="363315"/>
            <a:chOff x="0" y="0"/>
            <a:chExt cx="208134" cy="956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8134" cy="95688"/>
            </a:xfrm>
            <a:custGeom>
              <a:avLst/>
              <a:gdLst/>
              <a:ahLst/>
              <a:cxnLst/>
              <a:rect r="r" b="b" t="t" l="l"/>
              <a:pathLst>
                <a:path h="95688" w="208134">
                  <a:moveTo>
                    <a:pt x="0" y="0"/>
                  </a:moveTo>
                  <a:lnTo>
                    <a:pt x="208134" y="0"/>
                  </a:lnTo>
                  <a:lnTo>
                    <a:pt x="208134" y="95688"/>
                  </a:lnTo>
                  <a:lnTo>
                    <a:pt x="0" y="95688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8134" cy="133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29955" y="4768167"/>
            <a:ext cx="2674126" cy="196715"/>
            <a:chOff x="0" y="0"/>
            <a:chExt cx="704297" cy="518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297" cy="51810"/>
            </a:xfrm>
            <a:custGeom>
              <a:avLst/>
              <a:gdLst/>
              <a:ahLst/>
              <a:cxnLst/>
              <a:rect r="r" b="b" t="t" l="l"/>
              <a:pathLst>
                <a:path h="51810" w="704297">
                  <a:moveTo>
                    <a:pt x="0" y="0"/>
                  </a:moveTo>
                  <a:lnTo>
                    <a:pt x="704297" y="0"/>
                  </a:lnTo>
                  <a:lnTo>
                    <a:pt x="704297" y="51810"/>
                  </a:lnTo>
                  <a:lnTo>
                    <a:pt x="0" y="51810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04297" cy="8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151395" y="6801243"/>
            <a:ext cx="4546188" cy="2090683"/>
            <a:chOff x="0" y="0"/>
            <a:chExt cx="1197350" cy="5506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97350" cy="550633"/>
            </a:xfrm>
            <a:custGeom>
              <a:avLst/>
              <a:gdLst/>
              <a:ahLst/>
              <a:cxnLst/>
              <a:rect r="r" b="b" t="t" l="l"/>
              <a:pathLst>
                <a:path h="550633" w="1197350">
                  <a:moveTo>
                    <a:pt x="0" y="0"/>
                  </a:moveTo>
                  <a:lnTo>
                    <a:pt x="1197350" y="0"/>
                  </a:lnTo>
                  <a:lnTo>
                    <a:pt x="1197350" y="550633"/>
                  </a:lnTo>
                  <a:lnTo>
                    <a:pt x="0" y="550633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97350" cy="588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680234" y="4116484"/>
            <a:ext cx="540041" cy="54004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35870" y="4116484"/>
            <a:ext cx="540041" cy="5400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469645" y="3922964"/>
            <a:ext cx="5279467" cy="927080"/>
          </a:xfrm>
          <a:custGeom>
            <a:avLst/>
            <a:gdLst/>
            <a:ahLst/>
            <a:cxnLst/>
            <a:rect r="r" b="b" t="t" l="l"/>
            <a:pathLst>
              <a:path h="927080" w="5279467">
                <a:moveTo>
                  <a:pt x="0" y="0"/>
                </a:moveTo>
                <a:lnTo>
                  <a:pt x="5279467" y="0"/>
                </a:lnTo>
                <a:lnTo>
                  <a:pt x="5279467" y="927081"/>
                </a:lnTo>
                <a:lnTo>
                  <a:pt x="0" y="927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738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51395" y="3922964"/>
            <a:ext cx="4642010" cy="1707874"/>
          </a:xfrm>
          <a:custGeom>
            <a:avLst/>
            <a:gdLst/>
            <a:ahLst/>
            <a:cxnLst/>
            <a:rect r="r" b="b" t="t" l="l"/>
            <a:pathLst>
              <a:path h="1707874" w="4642010">
                <a:moveTo>
                  <a:pt x="0" y="0"/>
                </a:moveTo>
                <a:lnTo>
                  <a:pt x="4642010" y="0"/>
                </a:lnTo>
                <a:lnTo>
                  <a:pt x="4642010" y="1707875"/>
                </a:lnTo>
                <a:lnTo>
                  <a:pt x="0" y="1707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022" t="-214314" r="-105433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36104" y="6171653"/>
            <a:ext cx="2844740" cy="2830228"/>
          </a:xfrm>
          <a:custGeom>
            <a:avLst/>
            <a:gdLst/>
            <a:ahLst/>
            <a:cxnLst/>
            <a:rect r="r" b="b" t="t" l="l"/>
            <a:pathLst>
              <a:path h="2830228" w="2844740">
                <a:moveTo>
                  <a:pt x="0" y="0"/>
                </a:moveTo>
                <a:lnTo>
                  <a:pt x="2844740" y="0"/>
                </a:lnTo>
                <a:lnTo>
                  <a:pt x="2844740" y="2830228"/>
                </a:lnTo>
                <a:lnTo>
                  <a:pt x="0" y="2830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1363" t="-35362" r="-215905" b="-51313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001381" y="7316747"/>
            <a:ext cx="540041" cy="54004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261959" y="6821040"/>
            <a:ext cx="3079045" cy="1538160"/>
          </a:xfrm>
          <a:custGeom>
            <a:avLst/>
            <a:gdLst/>
            <a:ahLst/>
            <a:cxnLst/>
            <a:rect r="r" b="b" t="t" l="l"/>
            <a:pathLst>
              <a:path h="1538160" w="3079045">
                <a:moveTo>
                  <a:pt x="0" y="0"/>
                </a:moveTo>
                <a:lnTo>
                  <a:pt x="3079045" y="0"/>
                </a:lnTo>
                <a:lnTo>
                  <a:pt x="3079045" y="1538159"/>
                </a:lnTo>
                <a:lnTo>
                  <a:pt x="0" y="1538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4763" r="-83681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1064904" y="7188577"/>
            <a:ext cx="540041" cy="54004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322204" y="6271483"/>
            <a:ext cx="3826064" cy="2433634"/>
          </a:xfrm>
          <a:custGeom>
            <a:avLst/>
            <a:gdLst/>
            <a:ahLst/>
            <a:cxnLst/>
            <a:rect r="r" b="b" t="t" l="l"/>
            <a:pathLst>
              <a:path h="2433634" w="3826064">
                <a:moveTo>
                  <a:pt x="0" y="0"/>
                </a:moveTo>
                <a:lnTo>
                  <a:pt x="3826064" y="0"/>
                </a:lnTo>
                <a:lnTo>
                  <a:pt x="3826064" y="2433634"/>
                </a:lnTo>
                <a:lnTo>
                  <a:pt x="0" y="24336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8172" r="-64594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69645" y="3302634"/>
            <a:ext cx="3464633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Organization 생성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69645" y="1753624"/>
            <a:ext cx="13678623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6-2. Terraform Cloud 초기 구성 &amp; Github 연동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51395" y="3302634"/>
            <a:ext cx="3464633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이름 / E-mail 추가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69645" y="5421545"/>
            <a:ext cx="2811199" cy="81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Github와 연동할 </a:t>
            </a:r>
          </a:p>
          <a:p>
            <a:pPr algn="l">
              <a:lnSpc>
                <a:spcPts val="3275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Workspace 생성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61959" y="5648259"/>
            <a:ext cx="1882041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Github 선택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22204" y="5651152"/>
            <a:ext cx="3653706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Github Repository선택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546148" y="4341196"/>
            <a:ext cx="1015824" cy="223900"/>
            <a:chOff x="0" y="0"/>
            <a:chExt cx="267542" cy="589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7542" cy="58970"/>
            </a:xfrm>
            <a:custGeom>
              <a:avLst/>
              <a:gdLst/>
              <a:ahLst/>
              <a:cxnLst/>
              <a:rect r="r" b="b" t="t" l="l"/>
              <a:pathLst>
                <a:path h="58970" w="267542">
                  <a:moveTo>
                    <a:pt x="0" y="0"/>
                  </a:moveTo>
                  <a:lnTo>
                    <a:pt x="267542" y="0"/>
                  </a:lnTo>
                  <a:lnTo>
                    <a:pt x="267542" y="58970"/>
                  </a:lnTo>
                  <a:lnTo>
                    <a:pt x="0" y="58970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67542" cy="97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31634" y="3919769"/>
            <a:ext cx="4561771" cy="660385"/>
            <a:chOff x="0" y="0"/>
            <a:chExt cx="1201454" cy="1739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01454" cy="173929"/>
            </a:xfrm>
            <a:custGeom>
              <a:avLst/>
              <a:gdLst/>
              <a:ahLst/>
              <a:cxnLst/>
              <a:rect r="r" b="b" t="t" l="l"/>
              <a:pathLst>
                <a:path h="173929" w="1201454">
                  <a:moveTo>
                    <a:pt x="0" y="0"/>
                  </a:moveTo>
                  <a:lnTo>
                    <a:pt x="1201454" y="0"/>
                  </a:lnTo>
                  <a:lnTo>
                    <a:pt x="1201454" y="173929"/>
                  </a:lnTo>
                  <a:lnTo>
                    <a:pt x="0" y="173929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01454" cy="212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31634" y="4742109"/>
            <a:ext cx="4561771" cy="556617"/>
            <a:chOff x="0" y="0"/>
            <a:chExt cx="1201454" cy="14659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01454" cy="146599"/>
            </a:xfrm>
            <a:custGeom>
              <a:avLst/>
              <a:gdLst/>
              <a:ahLst/>
              <a:cxnLst/>
              <a:rect r="r" b="b" t="t" l="l"/>
              <a:pathLst>
                <a:path h="146599" w="1201454">
                  <a:moveTo>
                    <a:pt x="0" y="0"/>
                  </a:moveTo>
                  <a:lnTo>
                    <a:pt x="1201454" y="0"/>
                  </a:lnTo>
                  <a:lnTo>
                    <a:pt x="1201454" y="146599"/>
                  </a:lnTo>
                  <a:lnTo>
                    <a:pt x="0" y="146599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01454" cy="184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492289" y="7398425"/>
            <a:ext cx="2704102" cy="1503132"/>
            <a:chOff x="0" y="0"/>
            <a:chExt cx="712192" cy="39588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2192" cy="395887"/>
            </a:xfrm>
            <a:custGeom>
              <a:avLst/>
              <a:gdLst/>
              <a:ahLst/>
              <a:cxnLst/>
              <a:rect r="r" b="b" t="t" l="l"/>
              <a:pathLst>
                <a:path h="395887" w="712192">
                  <a:moveTo>
                    <a:pt x="0" y="0"/>
                  </a:moveTo>
                  <a:lnTo>
                    <a:pt x="712192" y="0"/>
                  </a:lnTo>
                  <a:lnTo>
                    <a:pt x="712192" y="395887"/>
                  </a:lnTo>
                  <a:lnTo>
                    <a:pt x="0" y="395887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12192" cy="433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321941" y="7814342"/>
            <a:ext cx="520209" cy="198234"/>
            <a:chOff x="0" y="0"/>
            <a:chExt cx="137010" cy="522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7010" cy="52210"/>
            </a:xfrm>
            <a:custGeom>
              <a:avLst/>
              <a:gdLst/>
              <a:ahLst/>
              <a:cxnLst/>
              <a:rect r="r" b="b" t="t" l="l"/>
              <a:pathLst>
                <a:path h="52210" w="137010">
                  <a:moveTo>
                    <a:pt x="0" y="0"/>
                  </a:moveTo>
                  <a:lnTo>
                    <a:pt x="137010" y="0"/>
                  </a:lnTo>
                  <a:lnTo>
                    <a:pt x="137010" y="52210"/>
                  </a:lnTo>
                  <a:lnTo>
                    <a:pt x="0" y="52210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37010" cy="90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322204" y="6271483"/>
            <a:ext cx="3746209" cy="660385"/>
            <a:chOff x="0" y="0"/>
            <a:chExt cx="986656" cy="17392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86656" cy="173929"/>
            </a:xfrm>
            <a:custGeom>
              <a:avLst/>
              <a:gdLst/>
              <a:ahLst/>
              <a:cxnLst/>
              <a:rect r="r" b="b" t="t" l="l"/>
              <a:pathLst>
                <a:path h="173929" w="986656">
                  <a:moveTo>
                    <a:pt x="0" y="0"/>
                  </a:moveTo>
                  <a:lnTo>
                    <a:pt x="986656" y="0"/>
                  </a:lnTo>
                  <a:lnTo>
                    <a:pt x="986656" y="173929"/>
                  </a:lnTo>
                  <a:lnTo>
                    <a:pt x="0" y="173929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86656" cy="212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929317" y="3981597"/>
            <a:ext cx="3635392" cy="2322095"/>
          </a:xfrm>
          <a:custGeom>
            <a:avLst/>
            <a:gdLst/>
            <a:ahLst/>
            <a:cxnLst/>
            <a:rect r="r" b="b" t="t" l="l"/>
            <a:pathLst>
              <a:path h="2322095" w="3635392">
                <a:moveTo>
                  <a:pt x="0" y="0"/>
                </a:moveTo>
                <a:lnTo>
                  <a:pt x="3635393" y="0"/>
                </a:lnTo>
                <a:lnTo>
                  <a:pt x="3635393" y="2322095"/>
                </a:lnTo>
                <a:lnTo>
                  <a:pt x="0" y="2322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46" r="-10451" b="-3807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85329" y="3981597"/>
            <a:ext cx="4573730" cy="2322095"/>
          </a:xfrm>
          <a:custGeom>
            <a:avLst/>
            <a:gdLst/>
            <a:ahLst/>
            <a:cxnLst/>
            <a:rect r="r" b="b" t="t" l="l"/>
            <a:pathLst>
              <a:path h="2322095" w="4573730">
                <a:moveTo>
                  <a:pt x="0" y="0"/>
                </a:moveTo>
                <a:lnTo>
                  <a:pt x="4573731" y="0"/>
                </a:lnTo>
                <a:lnTo>
                  <a:pt x="4573731" y="2322095"/>
                </a:lnTo>
                <a:lnTo>
                  <a:pt x="0" y="2322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0135" r="0" b="-2441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85329" y="6303692"/>
            <a:ext cx="4573730" cy="2308779"/>
          </a:xfrm>
          <a:custGeom>
            <a:avLst/>
            <a:gdLst/>
            <a:ahLst/>
            <a:cxnLst/>
            <a:rect r="r" b="b" t="t" l="l"/>
            <a:pathLst>
              <a:path h="2308779" w="4573730">
                <a:moveTo>
                  <a:pt x="0" y="0"/>
                </a:moveTo>
                <a:lnTo>
                  <a:pt x="4573731" y="0"/>
                </a:lnTo>
                <a:lnTo>
                  <a:pt x="4573731" y="2308779"/>
                </a:lnTo>
                <a:lnTo>
                  <a:pt x="0" y="23087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9334" r="0" b="-2606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78185" y="4027463"/>
            <a:ext cx="4980498" cy="4585008"/>
          </a:xfrm>
          <a:custGeom>
            <a:avLst/>
            <a:gdLst/>
            <a:ahLst/>
            <a:cxnLst/>
            <a:rect r="r" b="b" t="t" l="l"/>
            <a:pathLst>
              <a:path h="4585008" w="4980498">
                <a:moveTo>
                  <a:pt x="0" y="0"/>
                </a:moveTo>
                <a:lnTo>
                  <a:pt x="4980498" y="0"/>
                </a:lnTo>
                <a:lnTo>
                  <a:pt x="4980498" y="4585008"/>
                </a:lnTo>
                <a:lnTo>
                  <a:pt x="0" y="4585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0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29317" y="3361266"/>
            <a:ext cx="2277270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Variable 생성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69645" y="1753624"/>
            <a:ext cx="13567993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6-3. Terraform Cloud &amp; AWS 연동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85329" y="3407132"/>
            <a:ext cx="2475621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ACCESS KEY 입력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78185" y="3361266"/>
            <a:ext cx="2762129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자동 Apply 활성화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017114" y="6021490"/>
            <a:ext cx="846450" cy="239013"/>
            <a:chOff x="0" y="0"/>
            <a:chExt cx="222933" cy="629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933" cy="62950"/>
            </a:xfrm>
            <a:custGeom>
              <a:avLst/>
              <a:gdLst/>
              <a:ahLst/>
              <a:cxnLst/>
              <a:rect r="r" b="b" t="t" l="l"/>
              <a:pathLst>
                <a:path h="62950" w="222933">
                  <a:moveTo>
                    <a:pt x="0" y="0"/>
                  </a:moveTo>
                  <a:lnTo>
                    <a:pt x="222933" y="0"/>
                  </a:lnTo>
                  <a:lnTo>
                    <a:pt x="222933" y="62950"/>
                  </a:lnTo>
                  <a:lnTo>
                    <a:pt x="0" y="62950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2933" cy="10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28091" y="4219551"/>
            <a:ext cx="4287368" cy="328721"/>
            <a:chOff x="0" y="0"/>
            <a:chExt cx="1129183" cy="865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9183" cy="86577"/>
            </a:xfrm>
            <a:custGeom>
              <a:avLst/>
              <a:gdLst/>
              <a:ahLst/>
              <a:cxnLst/>
              <a:rect r="r" b="b" t="t" l="l"/>
              <a:pathLst>
                <a:path h="86577" w="1129183">
                  <a:moveTo>
                    <a:pt x="0" y="0"/>
                  </a:moveTo>
                  <a:lnTo>
                    <a:pt x="1129183" y="0"/>
                  </a:lnTo>
                  <a:lnTo>
                    <a:pt x="1129183" y="86577"/>
                  </a:lnTo>
                  <a:lnTo>
                    <a:pt x="0" y="86577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29183" cy="12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28511" y="6551342"/>
            <a:ext cx="4287368" cy="328721"/>
            <a:chOff x="0" y="0"/>
            <a:chExt cx="1129183" cy="865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9183" cy="86577"/>
            </a:xfrm>
            <a:custGeom>
              <a:avLst/>
              <a:gdLst/>
              <a:ahLst/>
              <a:cxnLst/>
              <a:rect r="r" b="b" t="t" l="l"/>
              <a:pathLst>
                <a:path h="86577" w="1129183">
                  <a:moveTo>
                    <a:pt x="0" y="0"/>
                  </a:moveTo>
                  <a:lnTo>
                    <a:pt x="1129183" y="0"/>
                  </a:lnTo>
                  <a:lnTo>
                    <a:pt x="1129183" y="86577"/>
                  </a:lnTo>
                  <a:lnTo>
                    <a:pt x="0" y="86577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129183" cy="12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378185" y="3981597"/>
            <a:ext cx="4761527" cy="1374027"/>
            <a:chOff x="0" y="0"/>
            <a:chExt cx="1254065" cy="3618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4065" cy="361884"/>
            </a:xfrm>
            <a:custGeom>
              <a:avLst/>
              <a:gdLst/>
              <a:ahLst/>
              <a:cxnLst/>
              <a:rect r="r" b="b" t="t" l="l"/>
              <a:pathLst>
                <a:path h="361884" w="1254065">
                  <a:moveTo>
                    <a:pt x="0" y="0"/>
                  </a:moveTo>
                  <a:lnTo>
                    <a:pt x="1254065" y="0"/>
                  </a:lnTo>
                  <a:lnTo>
                    <a:pt x="1254065" y="361884"/>
                  </a:lnTo>
                  <a:lnTo>
                    <a:pt x="0" y="361884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54065" cy="399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607189" y="6049947"/>
            <a:ext cx="540041" cy="54004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797160" y="6049947"/>
            <a:ext cx="540041" cy="54004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C9A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5394072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1004967" y="3542367"/>
            <a:ext cx="3819576" cy="3703410"/>
            <a:chOff x="0" y="0"/>
            <a:chExt cx="1005979" cy="9753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979" cy="975384"/>
            </a:xfrm>
            <a:custGeom>
              <a:avLst/>
              <a:gdLst/>
              <a:ahLst/>
              <a:cxnLst/>
              <a:rect r="r" b="b" t="t" l="l"/>
              <a:pathLst>
                <a:path h="975384" w="1005979">
                  <a:moveTo>
                    <a:pt x="0" y="0"/>
                  </a:moveTo>
                  <a:lnTo>
                    <a:pt x="1005979" y="0"/>
                  </a:lnTo>
                  <a:lnTo>
                    <a:pt x="1005979" y="975384"/>
                  </a:lnTo>
                  <a:lnTo>
                    <a:pt x="0" y="9753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005979" cy="11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667655" y="4146971"/>
            <a:ext cx="2494202" cy="2494202"/>
          </a:xfrm>
          <a:custGeom>
            <a:avLst/>
            <a:gdLst/>
            <a:ahLst/>
            <a:cxnLst/>
            <a:rect r="r" b="b" t="t" l="l"/>
            <a:pathLst>
              <a:path h="2494202" w="2494202">
                <a:moveTo>
                  <a:pt x="0" y="0"/>
                </a:moveTo>
                <a:lnTo>
                  <a:pt x="2494202" y="0"/>
                </a:lnTo>
                <a:lnTo>
                  <a:pt x="2494202" y="2494202"/>
                </a:lnTo>
                <a:lnTo>
                  <a:pt x="0" y="249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76474" y="3741917"/>
            <a:ext cx="9528494" cy="125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0"/>
              </a:lnSpc>
              <a:spcBef>
                <a:spcPct val="0"/>
              </a:spcBef>
            </a:pPr>
            <a:r>
              <a:rPr lang="en-US" b="true" sz="7307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7. Route 53 도메인 등록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0572" y="9471322"/>
            <a:ext cx="17900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Terraform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436104" y="5341215"/>
            <a:ext cx="5851468" cy="1491333"/>
          </a:xfrm>
          <a:custGeom>
            <a:avLst/>
            <a:gdLst/>
            <a:ahLst/>
            <a:cxnLst/>
            <a:rect r="r" b="b" t="t" l="l"/>
            <a:pathLst>
              <a:path h="1491333" w="5851468">
                <a:moveTo>
                  <a:pt x="0" y="0"/>
                </a:moveTo>
                <a:lnTo>
                  <a:pt x="5851468" y="0"/>
                </a:lnTo>
                <a:lnTo>
                  <a:pt x="5851468" y="1491333"/>
                </a:lnTo>
                <a:lnTo>
                  <a:pt x="0" y="14913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628" r="-48768" b="-4837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3922964"/>
            <a:ext cx="6416376" cy="2598632"/>
          </a:xfrm>
          <a:custGeom>
            <a:avLst/>
            <a:gdLst/>
            <a:ahLst/>
            <a:cxnLst/>
            <a:rect r="r" b="b" t="t" l="l"/>
            <a:pathLst>
              <a:path h="2598632" w="6416376">
                <a:moveTo>
                  <a:pt x="0" y="0"/>
                </a:moveTo>
                <a:lnTo>
                  <a:pt x="6416376" y="0"/>
                </a:lnTo>
                <a:lnTo>
                  <a:pt x="6416376" y="2598633"/>
                </a:lnTo>
                <a:lnTo>
                  <a:pt x="0" y="2598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67493" y="6521597"/>
            <a:ext cx="4227369" cy="2603956"/>
          </a:xfrm>
          <a:custGeom>
            <a:avLst/>
            <a:gdLst/>
            <a:ahLst/>
            <a:cxnLst/>
            <a:rect r="r" b="b" t="t" l="l"/>
            <a:pathLst>
              <a:path h="2603956" w="4227369">
                <a:moveTo>
                  <a:pt x="0" y="0"/>
                </a:moveTo>
                <a:lnTo>
                  <a:pt x="4227369" y="0"/>
                </a:lnTo>
                <a:lnTo>
                  <a:pt x="4227369" y="2603956"/>
                </a:lnTo>
                <a:lnTo>
                  <a:pt x="0" y="2603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73" t="-36059" r="-6594" b="-1549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69645" y="3302634"/>
            <a:ext cx="2718051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호스팅 영역 확인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69645" y="1753624"/>
            <a:ext cx="6674355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7-1. 호스트 영역 확인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1753624"/>
            <a:ext cx="6674355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7-2. NS 레코드 확인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302634"/>
            <a:ext cx="3599612" cy="62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NS 레코드 확인 및 입력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436104" y="5341215"/>
            <a:ext cx="5851468" cy="1491333"/>
            <a:chOff x="0" y="0"/>
            <a:chExt cx="1541127" cy="3927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41127" cy="392779"/>
            </a:xfrm>
            <a:custGeom>
              <a:avLst/>
              <a:gdLst/>
              <a:ahLst/>
              <a:cxnLst/>
              <a:rect r="r" b="b" t="t" l="l"/>
              <a:pathLst>
                <a:path h="392779" w="1541127">
                  <a:moveTo>
                    <a:pt x="0" y="0"/>
                  </a:moveTo>
                  <a:lnTo>
                    <a:pt x="1541127" y="0"/>
                  </a:lnTo>
                  <a:lnTo>
                    <a:pt x="1541127" y="392779"/>
                  </a:lnTo>
                  <a:lnTo>
                    <a:pt x="0" y="392779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41127" cy="430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859497" y="5813473"/>
            <a:ext cx="1033763" cy="485060"/>
            <a:chOff x="0" y="0"/>
            <a:chExt cx="272267" cy="127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2267" cy="127752"/>
            </a:xfrm>
            <a:custGeom>
              <a:avLst/>
              <a:gdLst/>
              <a:ahLst/>
              <a:cxnLst/>
              <a:rect r="r" b="b" t="t" l="l"/>
              <a:pathLst>
                <a:path h="127752" w="272267">
                  <a:moveTo>
                    <a:pt x="0" y="0"/>
                  </a:moveTo>
                  <a:lnTo>
                    <a:pt x="272267" y="0"/>
                  </a:lnTo>
                  <a:lnTo>
                    <a:pt x="272267" y="127752"/>
                  </a:lnTo>
                  <a:lnTo>
                    <a:pt x="0" y="127752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72267" cy="165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00293" y="7778897"/>
            <a:ext cx="2712325" cy="1346656"/>
            <a:chOff x="0" y="0"/>
            <a:chExt cx="714357" cy="3546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4357" cy="354675"/>
            </a:xfrm>
            <a:custGeom>
              <a:avLst/>
              <a:gdLst/>
              <a:ahLst/>
              <a:cxnLst/>
              <a:rect r="r" b="b" t="t" l="l"/>
              <a:pathLst>
                <a:path h="354675" w="714357">
                  <a:moveTo>
                    <a:pt x="0" y="0"/>
                  </a:moveTo>
                  <a:lnTo>
                    <a:pt x="714357" y="0"/>
                  </a:lnTo>
                  <a:lnTo>
                    <a:pt x="714357" y="354675"/>
                  </a:lnTo>
                  <a:lnTo>
                    <a:pt x="0" y="354675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14357" cy="39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922583"/>
            <a:ext cx="16021455" cy="8441833"/>
            <a:chOff x="0" y="0"/>
            <a:chExt cx="4219642" cy="22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223364"/>
            </a:xfrm>
            <a:custGeom>
              <a:avLst/>
              <a:gdLst/>
              <a:ahLst/>
              <a:cxnLst/>
              <a:rect r="r" b="b" t="t" l="l"/>
              <a:pathLst>
                <a:path h="2223364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931040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378042" y="3410874"/>
            <a:ext cx="8865372" cy="5637764"/>
          </a:xfrm>
          <a:custGeom>
            <a:avLst/>
            <a:gdLst/>
            <a:ahLst/>
            <a:cxnLst/>
            <a:rect r="r" b="b" t="t" l="l"/>
            <a:pathLst>
              <a:path h="5637764" w="8865372">
                <a:moveTo>
                  <a:pt x="0" y="0"/>
                </a:moveTo>
                <a:lnTo>
                  <a:pt x="8865373" y="0"/>
                </a:lnTo>
                <a:lnTo>
                  <a:pt x="8865373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54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69645" y="3302634"/>
            <a:ext cx="3280046" cy="1325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2799" b="true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jaeseop.store 입력 후 출력 결과 확인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0572" y="9471322"/>
            <a:ext cx="19110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Terraform </a:t>
            </a:r>
            <a:r>
              <a:rPr lang="en-US" sz="1900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79337" y="9471322"/>
            <a:ext cx="3234447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12B3B"/>
                </a:solidFill>
                <a:latin typeface="각진펜"/>
                <a:ea typeface="각진펜"/>
                <a:cs typeface="각진펜"/>
                <a:sym typeface="각진펜"/>
              </a:rPr>
              <a:t>4RSENAL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69645" y="1753624"/>
            <a:ext cx="13567993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b="true" sz="5395">
                <a:solidFill>
                  <a:srgbClr val="212B3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7-3. 출력 결과 확인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378042" y="3410874"/>
            <a:ext cx="8865372" cy="5637764"/>
            <a:chOff x="0" y="0"/>
            <a:chExt cx="2334913" cy="14848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34913" cy="1484843"/>
            </a:xfrm>
            <a:custGeom>
              <a:avLst/>
              <a:gdLst/>
              <a:ahLst/>
              <a:cxnLst/>
              <a:rect r="r" b="b" t="t" l="l"/>
              <a:pathLst>
                <a:path h="1484843" w="2334913">
                  <a:moveTo>
                    <a:pt x="0" y="0"/>
                  </a:moveTo>
                  <a:lnTo>
                    <a:pt x="2334913" y="0"/>
                  </a:lnTo>
                  <a:lnTo>
                    <a:pt x="2334913" y="1484843"/>
                  </a:lnTo>
                  <a:lnTo>
                    <a:pt x="0" y="1484843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34913" cy="1522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273" y="492463"/>
            <a:ext cx="16021455" cy="9302074"/>
            <a:chOff x="0" y="0"/>
            <a:chExt cx="4219642" cy="2449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449929"/>
            </a:xfrm>
            <a:custGeom>
              <a:avLst/>
              <a:gdLst/>
              <a:ahLst/>
              <a:cxnLst/>
              <a:rect r="r" b="b" t="t" l="l"/>
              <a:pathLst>
                <a:path h="2449929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449929"/>
                  </a:lnTo>
                  <a:lnTo>
                    <a:pt x="0" y="244992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488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088986" y="3392809"/>
            <a:ext cx="10110029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b="true" sz="7999">
                <a:solidFill>
                  <a:srgbClr val="4334AB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68153" y="5250200"/>
            <a:ext cx="8551695" cy="94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2"/>
              </a:lnSpc>
              <a:spcBef>
                <a:spcPct val="0"/>
              </a:spcBef>
            </a:pPr>
            <a:r>
              <a:rPr lang="en-US" b="true" sz="553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감사합니다</a:t>
            </a:r>
          </a:p>
        </p:txBody>
      </p:sp>
      <p:sp>
        <p:nvSpPr>
          <p:cNvPr name="AutoShape 7" id="7"/>
          <p:cNvSpPr/>
          <p:nvPr/>
        </p:nvSpPr>
        <p:spPr>
          <a:xfrm>
            <a:off x="0" y="5011743"/>
            <a:ext cx="18288000" cy="0"/>
          </a:xfrm>
          <a:prstGeom prst="line">
            <a:avLst/>
          </a:prstGeom>
          <a:ln cap="flat" w="38100">
            <a:solidFill>
              <a:srgbClr val="4334A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DAHKSN7pBaY</dc:identifier>
  <dcterms:modified xsi:type="dcterms:W3CDTF">2011-08-01T06:04:30Z</dcterms:modified>
  <cp:revision>1</cp:revision>
  <dc:title>4RSENAL Terraform project</dc:title>
</cp:coreProperties>
</file>